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a74f434-fe48-0383-30a6-0e0aa16e8b8d}">
          <p14:sldIdLst>
            <p14:sldId id="256"/>
            <p14:sldId id="257"/>
            <p14:sldId id="258"/>
          </p14:sldIdLst>
        </p14:section>
        <p14:section name="Data and method" id="{9450d77e-1071-ec9d-8a25-5aafe6ddff12}">
          <p14:sldIdLst>
            <p14:sldId id="259"/>
            <p14:sldId id="260"/>
            <p14:sldId id="261"/>
            <p14:sldId id="262"/>
            <p14:sldId id="263"/>
          </p14:sldIdLst>
        </p14:section>
        <p14:section name="Results" id="{75fb81cd-b0bc-8704-93d1-0ad605aaa26f}">
          <p14:sldIdLst>
            <p14:sldId id="264"/>
            <p14:sldId id="265"/>
            <p14:sldId id="266"/>
            <p14:sldId id="267"/>
          </p14:sldIdLst>
        </p14:section>
        <p14:section name="Uncertainty" id="{8020de38-8d96-8655-f613-089d31fb6cb6}">
          <p14:sldIdLst>
            <p14:sldId id="268"/>
            <p14:sldId id="269"/>
            <p14:sldId id="270"/>
          </p14:sldIdLst>
        </p14:section>
        <p14:section name="Validity and conclusion" id="{2034cd82-1744-5a41-75bd-e953f78671fd}">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11827"/>
                </a:solidFill>
                <a:latin typeface="+mn-lt"/>
              </a:defRPr>
            </a:pPr>
            <a:r>
              <a:rPr sz="1200" b="0" i="0" u="none" strike="noStrike">
                <a:solidFill>
                  <a:srgbClr val="111827"/>
                </a:solidFill>
                <a:latin typeface="+mn-lt"/>
              </a:rPr>
              <a:t>Test error by model (kWh)</a:t>
            </a:r>
          </a:p>
        </c:rich>
      </c:tx>
      <c:layout/>
      <c:overlay val="0"/>
    </c:title>
    <c:autoTitleDeleted val="0"/>
    <c:plotArea>
      <c:layout/>
      <c:barChart>
        <c:barDir val="col"/>
        <c:grouping val="clustered"/>
        <c:varyColors val="0"/>
        <c:ser>
          <c:idx val="0"/>
          <c:order val="0"/>
          <c:tx>
            <c:strRef>
              <c:f>Sheet1!$B$1</c:f>
              <c:strCache>
                <c:ptCount val="1"/>
                <c:pt idx="0">
                  <c:v>MAE (kWh)</c:v>
                </c:pt>
              </c:strCache>
            </c:strRef>
          </c:tx>
          <c:spPr>
            <a:solidFill>
              <a:srgbClr val="4F46E5"/>
            </a:solidFill>
            <a:effectLst/>
          </c:spPr>
          <c:invertIfNegative val="0"/>
          <c:dLbls>
            <c:numFmt formatCode="#,##0" sourceLinked="0"/>
            <c:txPr>
              <a:bodyPr/>
              <a:lstStyle/>
              <a:p>
                <a:pPr>
                  <a:defRPr b="0" i="0" strike="noStrike" sz="1100" u="none">
                    <a:solidFill>
                      <a:srgbClr val="111827"/>
                    </a:solidFill>
                    <a:latin typeface="+mn-lt"/>
                  </a:defRPr>
                </a:pPr>
              </a:p>
            </c:txPr>
            <c:showLegendKey val="0"/>
            <c:showVal val="0"/>
            <c:showCatName val="0"/>
            <c:showSerName val="0"/>
            <c:showPercent val="0"/>
            <c:showBubbleSize val="0"/>
            <c:showLeaderLines val="0"/>
          </c:dLbls>
          <c:cat>
            <c:multiLvlStrRef>
              <c:f>Sheet1!$A$2:$A$6</c:f>
              <c:multiLvlStrCache>
                <c:ptCount val="5"/>
                <c:lvl>
                  <c:pt idx="0">
                    <c:v>XGBoost</c:v>
                  </c:pt>
                  <c:pt idx="1">
                    <c:v>Rand. Forest</c:v>
                  </c:pt>
                  <c:pt idx="2">
                    <c:v>Linear Reg.</c:v>
                  </c:pt>
                  <c:pt idx="3">
                    <c:v>Seasonal Naive</c:v>
                  </c:pt>
                  <c:pt idx="4">
                    <c:v>SARIMAX</c:v>
                  </c:pt>
                </c:lvl>
              </c:multiLvlStrCache>
            </c:multiLvlStrRef>
          </c:cat>
          <c:val>
            <c:numRef>
              <c:f>Sheet1!$B$2:$B$6</c:f>
              <c:numCache>
                <c:formatCode>General</c:formatCode>
                <c:ptCount val="5"/>
                <c:pt idx="0">
                  <c:v>6.49</c:v>
                </c:pt>
                <c:pt idx="1">
                  <c:v>6.38</c:v>
                </c:pt>
                <c:pt idx="2">
                  <c:v>7.52</c:v>
                </c:pt>
                <c:pt idx="3">
                  <c:v>7.14</c:v>
                </c:pt>
                <c:pt idx="4">
                  <c:v>11.06</c:v>
                </c:pt>
              </c:numCache>
            </c:numRef>
          </c:val>
        </c:ser>
        <c:ser>
          <c:idx val="1"/>
          <c:order val="1"/>
          <c:tx>
            <c:strRef>
              <c:f>Sheet1!$C$1</c:f>
              <c:strCache>
                <c:ptCount val="1"/>
                <c:pt idx="0">
                  <c:v>RMSE (kWh)</c:v>
                </c:pt>
              </c:strCache>
            </c:strRef>
          </c:tx>
          <c:spPr>
            <a:solidFill>
              <a:srgbClr val="7C6CF2"/>
            </a:solidFill>
            <a:effectLst/>
          </c:spPr>
          <c:invertIfNegative val="0"/>
          <c:dLbls>
            <c:numFmt formatCode="#,##0" sourceLinked="0"/>
            <c:txPr>
              <a:bodyPr/>
              <a:lstStyle/>
              <a:p>
                <a:pPr>
                  <a:defRPr b="0" i="0" strike="noStrike" sz="1100" u="none">
                    <a:solidFill>
                      <a:srgbClr val="111827"/>
                    </a:solidFill>
                    <a:latin typeface="+mn-lt"/>
                  </a:defRPr>
                </a:pPr>
              </a:p>
            </c:txPr>
            <c:showLegendKey val="0"/>
            <c:showVal val="0"/>
            <c:showCatName val="0"/>
            <c:showSerName val="0"/>
            <c:showPercent val="0"/>
            <c:showBubbleSize val="0"/>
            <c:showLeaderLines val="0"/>
          </c:dLbls>
          <c:cat>
            <c:multiLvlStrRef>
              <c:f>Sheet1!$A$2:$A$6</c:f>
              <c:multiLvlStrCache>
                <c:ptCount val="5"/>
                <c:lvl>
                  <c:pt idx="0">
                    <c:v>XGBoost</c:v>
                  </c:pt>
                  <c:pt idx="1">
                    <c:v>Rand. Forest</c:v>
                  </c:pt>
                  <c:pt idx="2">
                    <c:v>Linear Reg.</c:v>
                  </c:pt>
                  <c:pt idx="3">
                    <c:v>Seasonal Naive</c:v>
                  </c:pt>
                  <c:pt idx="4">
                    <c:v>SARIMAX</c:v>
                  </c:pt>
                </c:lvl>
              </c:multiLvlStrCache>
            </c:multiLvlStrRef>
          </c:cat>
          <c:val>
            <c:numRef>
              <c:f>Sheet1!$C$2:$C$6</c:f>
              <c:numCache>
                <c:formatCode>General</c:formatCode>
                <c:ptCount val="5"/>
                <c:pt idx="0">
                  <c:v>9.06</c:v>
                </c:pt>
                <c:pt idx="1">
                  <c:v>9.1</c:v>
                </c:pt>
                <c:pt idx="2">
                  <c:v>9.94</c:v>
                </c:pt>
                <c:pt idx="3">
                  <c:v>10.52</c:v>
                </c:pt>
                <c:pt idx="4">
                  <c:v>13.73</c:v>
                </c:pt>
              </c:numCache>
            </c:numRef>
          </c:val>
        </c:ser>
        <c:dLbls>
          <c:numFmt formatCode="#,##0" sourceLinked="0"/>
          <c:txPr>
            <a:bodyPr/>
            <a:lstStyle/>
            <a:p>
              <a:pPr>
                <a:defRPr b="0" i="0" strike="noStrike" sz="1100" u="none">
                  <a:solidFill>
                    <a:srgbClr val="111827"/>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11827"/>
                </a:solidFill>
                <a:latin typeface="+mn-lt"/>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1182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11827"/>
                </a:solidFill>
                <a:latin typeface="+mn-lt"/>
              </a:defRPr>
            </a:pPr>
            <a:r>
              <a:rPr sz="1200" b="0" i="0" u="none" strike="noStrike">
                <a:solidFill>
                  <a:srgbClr val="111827"/>
                </a:solidFill>
                <a:latin typeface="+mn-lt"/>
              </a:rPr>
              <a:t>Share of actual values inside the interval</a:t>
            </a:r>
          </a:p>
        </c:rich>
      </c:tx>
      <c:layout/>
      <c:overlay val="0"/>
    </c:title>
    <c:autoTitleDeleted val="0"/>
    <c:plotArea>
      <c:layout/>
      <c:barChart>
        <c:barDir val="col"/>
        <c:grouping val="clustered"/>
        <c:varyColors val="0"/>
        <c:ser>
          <c:idx val="0"/>
          <c:order val="0"/>
          <c:tx>
            <c:strRef>
              <c:f>Sheet1!$B$1</c:f>
              <c:strCache>
                <c:ptCount val="1"/>
                <c:pt idx="0">
                  <c:v>Coverage</c:v>
                </c:pt>
              </c:strCache>
            </c:strRef>
          </c:tx>
          <c:spPr>
            <a:solidFill>
              <a:srgbClr val="6B7280"/>
            </a:solidFill>
            <a:effectLst/>
          </c:spPr>
          <c:invertIfNegative val="0"/>
          <c:dLbls>
            <c:numFmt formatCode="0.0%" sourceLinked="0"/>
            <c:txPr>
              <a:bodyPr/>
              <a:lstStyle/>
              <a:p>
                <a:pPr>
                  <a:defRPr b="0" i="0" strike="noStrike" sz="1100" u="none">
                    <a:solidFill>
                      <a:srgbClr val="111827"/>
                    </a:solidFill>
                    <a:latin typeface="+mn-lt"/>
                  </a:defRPr>
                </a:pPr>
              </a:p>
            </c:txPr>
            <c:showLegendKey val="0"/>
            <c:showVal val="1"/>
            <c:showCatName val="0"/>
            <c:showSerName val="0"/>
            <c:showPercent val="0"/>
            <c:showBubbleSize val="0"/>
            <c:showLeaderLines val="0"/>
          </c:dLbls>
          <c:dPt>
            <c:idx val="0"/>
            <c:invertIfNegative val="0"/>
            <c:bubble3D val="0"/>
            <c:spPr>
              <a:solidFill>
                <a:srgbClr val="6B7280"/>
              </a:solidFill>
              <a:effectLst/>
            </c:spPr>
          </c:dPt>
          <c:dPt>
            <c:idx val="1"/>
            <c:invertIfNegative val="0"/>
            <c:bubble3D val="0"/>
            <c:spPr>
              <a:solidFill>
                <a:srgbClr val="EA580C"/>
              </a:solidFill>
              <a:effectLst/>
            </c:spPr>
          </c:dPt>
          <c:cat>
            <c:multiLvlStrRef>
              <c:f>Sheet1!$A$2:$A$3</c:f>
              <c:multiLvlStrCache>
                <c:ptCount val="2"/>
                <c:lvl>
                  <c:pt idx="0">
                    <c:v>Target (nominal)</c:v>
                  </c:pt>
                  <c:pt idx="1">
                    <c:v>Quantile XGBoost</c:v>
                  </c:pt>
                </c:lvl>
              </c:multiLvlStrCache>
            </c:multiLvlStrRef>
          </c:cat>
          <c:val>
            <c:numRef>
              <c:f>Sheet1!$B$2:$B$3</c:f>
              <c:numCache>
                <c:formatCode>General</c:formatCode>
                <c:ptCount val="2"/>
                <c:pt idx="0">
                  <c:v>0.9</c:v>
                </c:pt>
                <c:pt idx="1">
                  <c:v>0.712</c:v>
                </c:pt>
              </c:numCache>
            </c:numRef>
          </c:val>
        </c:ser>
        <c:dLbls>
          <c:numFmt formatCode="0.0%" sourceLinked="0"/>
          <c:txPr>
            <a:bodyPr/>
            <a:lstStyle/>
            <a:p>
              <a:pPr>
                <a:defRPr b="0" i="0" strike="noStrike" sz="1100" u="none">
                  <a:solidFill>
                    <a:srgbClr val="11182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11827"/>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11827"/>
                </a:solidFill>
                <a:latin typeface="+mn-lt"/>
              </a:defRPr>
            </a:pPr>
            <a:r>
              <a:rPr sz="1200" b="0" i="0" u="none" strike="noStrike">
                <a:solidFill>
                  <a:srgbClr val="111827"/>
                </a:solidFill>
                <a:latin typeface="+mn-lt"/>
              </a:rPr>
              <a:t>Empirical coverage on 1,080 test hours</a:t>
            </a:r>
          </a:p>
        </c:rich>
      </c:tx>
      <c:layout/>
      <c:overlay val="0"/>
    </c:title>
    <c:autoTitleDeleted val="0"/>
    <c:plotArea>
      <c:layout/>
      <c:barChart>
        <c:barDir val="col"/>
        <c:grouping val="clustered"/>
        <c:varyColors val="0"/>
        <c:ser>
          <c:idx val="0"/>
          <c:order val="0"/>
          <c:tx>
            <c:strRef>
              <c:f>Sheet1!$B$1</c:f>
              <c:strCache>
                <c:ptCount val="1"/>
                <c:pt idx="0">
                  <c:v>Coverage</c:v>
                </c:pt>
              </c:strCache>
            </c:strRef>
          </c:tx>
          <c:spPr>
            <a:solidFill>
              <a:srgbClr val="6B7280"/>
            </a:solidFill>
            <a:effectLst/>
          </c:spPr>
          <c:invertIfNegative val="0"/>
          <c:dLbls>
            <c:numFmt formatCode="0.0%" sourceLinked="0"/>
            <c:txPr>
              <a:bodyPr/>
              <a:lstStyle/>
              <a:p>
                <a:pPr>
                  <a:defRPr b="0" i="0" strike="noStrike" sz="1100" u="none">
                    <a:solidFill>
                      <a:srgbClr val="111827"/>
                    </a:solidFill>
                    <a:latin typeface="+mn-lt"/>
                  </a:defRPr>
                </a:pPr>
              </a:p>
            </c:txPr>
            <c:showLegendKey val="0"/>
            <c:showVal val="1"/>
            <c:showCatName val="0"/>
            <c:showSerName val="0"/>
            <c:showPercent val="0"/>
            <c:showBubbleSize val="0"/>
            <c:showLeaderLines val="0"/>
          </c:dLbls>
          <c:dPt>
            <c:idx val="0"/>
            <c:invertIfNegative val="0"/>
            <c:bubble3D val="0"/>
            <c:spPr>
              <a:solidFill>
                <a:srgbClr val="6B7280"/>
              </a:solidFill>
              <a:effectLst/>
            </c:spPr>
          </c:dPt>
          <c:dPt>
            <c:idx val="1"/>
            <c:invertIfNegative val="0"/>
            <c:bubble3D val="0"/>
            <c:spPr>
              <a:solidFill>
                <a:srgbClr val="EA580C"/>
              </a:solidFill>
              <a:effectLst/>
            </c:spPr>
          </c:dPt>
          <c:dPt>
            <c:idx val="2"/>
            <c:invertIfNegative val="0"/>
            <c:bubble3D val="0"/>
            <c:spPr>
              <a:solidFill>
                <a:srgbClr val="4F46E5"/>
              </a:solidFill>
              <a:effectLst/>
            </c:spPr>
          </c:dPt>
          <c:cat>
            <c:multiLvlStrRef>
              <c:f>Sheet1!$A$2:$A$4</c:f>
              <c:multiLvlStrCache>
                <c:ptCount val="3"/>
                <c:lvl>
                  <c:pt idx="0">
                    <c:v>Target</c:v>
                  </c:pt>
                  <c:pt idx="1">
                    <c:v>Quantile</c:v>
                  </c:pt>
                  <c:pt idx="2">
                    <c:v>Conformal</c:v>
                  </c:pt>
                </c:lvl>
              </c:multiLvlStrCache>
            </c:multiLvlStrRef>
          </c:cat>
          <c:val>
            <c:numRef>
              <c:f>Sheet1!$B$2:$B$4</c:f>
              <c:numCache>
                <c:formatCode>General</c:formatCode>
                <c:ptCount val="3"/>
                <c:pt idx="0">
                  <c:v>0.9</c:v>
                </c:pt>
                <c:pt idx="1">
                  <c:v>0.712</c:v>
                </c:pt>
                <c:pt idx="2">
                  <c:v>0.909</c:v>
                </c:pt>
              </c:numCache>
            </c:numRef>
          </c:val>
        </c:ser>
        <c:dLbls>
          <c:numFmt formatCode="0.0%" sourceLinked="0"/>
          <c:txPr>
            <a:bodyPr/>
            <a:lstStyle/>
            <a:p>
              <a:pPr>
                <a:defRPr b="0" i="0" strike="noStrike" sz="1100" u="none">
                  <a:solidFill>
                    <a:srgbClr val="11182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11827"/>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11827"/>
                </a:solidFill>
                <a:latin typeface="+mn-lt"/>
              </a:defRPr>
            </a:pPr>
            <a:r>
              <a:rPr sz="1200" b="0" i="0" u="none" strike="noStrike">
                <a:solidFill>
                  <a:srgbClr val="111827"/>
                </a:solidFill>
                <a:latin typeface="+mn-lt"/>
              </a:rPr>
              <a:t>Coverage: peak vs non-peak</a:t>
            </a:r>
          </a:p>
        </c:rich>
      </c:tx>
      <c:layout/>
      <c:overlay val="0"/>
    </c:title>
    <c:autoTitleDeleted val="0"/>
    <c:plotArea>
      <c:layout/>
      <c:barChart>
        <c:barDir val="col"/>
        <c:grouping val="clustered"/>
        <c:varyColors val="0"/>
        <c:ser>
          <c:idx val="0"/>
          <c:order val="0"/>
          <c:tx>
            <c:strRef>
              <c:f>Sheet1!$B$1</c:f>
              <c:strCache>
                <c:ptCount val="1"/>
                <c:pt idx="0">
                  <c:v>Quantile (raw)</c:v>
                </c:pt>
              </c:strCache>
            </c:strRef>
          </c:tx>
          <c:spPr>
            <a:solidFill>
              <a:srgbClr val="EA580C"/>
            </a:solidFill>
            <a:effectLst/>
          </c:spPr>
          <c:invertIfNegative val="0"/>
          <c:dLbls>
            <c:numFmt formatCode="0.0%" sourceLinked="0"/>
            <c:txPr>
              <a:bodyPr/>
              <a:lstStyle/>
              <a:p>
                <a:pPr>
                  <a:defRPr b="0" i="0" strike="noStrike" sz="1100" u="none">
                    <a:solidFill>
                      <a:srgbClr val="111827"/>
                    </a:solidFill>
                    <a:latin typeface="+mn-lt"/>
                  </a:defRPr>
                </a:pPr>
              </a:p>
            </c:txPr>
            <c:showLegendKey val="0"/>
            <c:showVal val="1"/>
            <c:showCatName val="0"/>
            <c:showSerName val="0"/>
            <c:showPercent val="0"/>
            <c:showBubbleSize val="0"/>
            <c:showLeaderLines val="0"/>
          </c:dLbls>
          <c:cat>
            <c:multiLvlStrRef>
              <c:f>Sheet1!$A$2:$A$3</c:f>
              <c:multiLvlStrCache>
                <c:ptCount val="2"/>
                <c:lvl>
                  <c:pt idx="0">
                    <c:v>Non-peak (972 h)</c:v>
                  </c:pt>
                  <c:pt idx="1">
                    <c:v>Peak (108 h)</c:v>
                  </c:pt>
                </c:lvl>
              </c:multiLvlStrCache>
            </c:multiLvlStrRef>
          </c:cat>
          <c:val>
            <c:numRef>
              <c:f>Sheet1!$B$2:$B$3</c:f>
              <c:numCache>
                <c:formatCode>General</c:formatCode>
                <c:ptCount val="2"/>
                <c:pt idx="0">
                  <c:v>0.737</c:v>
                </c:pt>
                <c:pt idx="1">
                  <c:v>0.491</c:v>
                </c:pt>
              </c:numCache>
            </c:numRef>
          </c:val>
        </c:ser>
        <c:ser>
          <c:idx val="1"/>
          <c:order val="1"/>
          <c:tx>
            <c:strRef>
              <c:f>Sheet1!$C$1</c:f>
              <c:strCache>
                <c:ptCount val="1"/>
                <c:pt idx="0">
                  <c:v>Conformalized</c:v>
                </c:pt>
              </c:strCache>
            </c:strRef>
          </c:tx>
          <c:spPr>
            <a:solidFill>
              <a:srgbClr val="4F46E5"/>
            </a:solidFill>
            <a:effectLst/>
          </c:spPr>
          <c:invertIfNegative val="0"/>
          <c:dLbls>
            <c:numFmt formatCode="0.0%" sourceLinked="0"/>
            <c:txPr>
              <a:bodyPr/>
              <a:lstStyle/>
              <a:p>
                <a:pPr>
                  <a:defRPr b="0" i="0" strike="noStrike" sz="1100" u="none">
                    <a:solidFill>
                      <a:srgbClr val="111827"/>
                    </a:solidFill>
                    <a:latin typeface="+mn-lt"/>
                  </a:defRPr>
                </a:pPr>
              </a:p>
            </c:txPr>
            <c:showLegendKey val="0"/>
            <c:showVal val="1"/>
            <c:showCatName val="0"/>
            <c:showSerName val="0"/>
            <c:showPercent val="0"/>
            <c:showBubbleSize val="0"/>
            <c:showLeaderLines val="0"/>
          </c:dLbls>
          <c:cat>
            <c:multiLvlStrRef>
              <c:f>Sheet1!$A$2:$A$3</c:f>
              <c:multiLvlStrCache>
                <c:ptCount val="2"/>
                <c:lvl>
                  <c:pt idx="0">
                    <c:v>Non-peak (972 h)</c:v>
                  </c:pt>
                  <c:pt idx="1">
                    <c:v>Peak (108 h)</c:v>
                  </c:pt>
                </c:lvl>
              </c:multiLvlStrCache>
            </c:multiLvlStrRef>
          </c:cat>
          <c:val>
            <c:numRef>
              <c:f>Sheet1!$C$2:$C$3</c:f>
              <c:numCache>
                <c:formatCode>General</c:formatCode>
                <c:ptCount val="2"/>
                <c:pt idx="0">
                  <c:v>0.93</c:v>
                </c:pt>
                <c:pt idx="1">
                  <c:v>0.722</c:v>
                </c:pt>
              </c:numCache>
            </c:numRef>
          </c:val>
        </c:ser>
        <c:dLbls>
          <c:numFmt formatCode="0.0%" sourceLinked="0"/>
          <c:txPr>
            <a:bodyPr/>
            <a:lstStyle/>
            <a:p>
              <a:pPr>
                <a:defRPr b="0" i="0" strike="noStrike" sz="1100" u="none">
                  <a:solidFill>
                    <a:srgbClr val="11182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11827"/>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100">
              <a:solidFill>
                <a:srgbClr val="11182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title, the two team members, the guide and the college. One sentence on what the project is: forecast hourly EV charging demand 24 hours ahead for a Caltech site, test how stable the forecasts are, and check how trustworthy the uncertainty ranges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motivation. Operators, the grid and planners all need to know how much demand to expect. The hard part is that charging demand is bursty: it has many zero hours and a few big peaks. So we forecast the next 24 hours AND say how uncertain each forecast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objectives quickly. Stress that each one corresponds to a script and a result folder in the repository, so nothing here is a plan: all of it was done and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the open ACN-Data set from the Caltech Adaptive Charging Network, cited as Lee, Li and Low, e-Energy 2019. We used 16,972 usable sessions out of 17,000 downloaded (28 removed for missing or invalid times). Each session's energy is spread evenly over its charging time and summed per clock hour, so the hourly demand is RECONSTRUCTED, not metered. Raw data is not in the GitHub repo because redistribution terms are unclear; the download script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feature groups. Lags tell the model what happened 1 hour, 1 day, 1 week ago. Rolling statistics summarise the recent level and variability and are shifted by one hour so the current value is never included. Calendar features give time of day and day of week. We verified there is no leakage: rebuilding features from history alone matched the stored features on 300 random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pipeline left to right. Then the split: 70 percent training, 15 percent validation, 15 percent test, always in time order, because random splitting would put future data into training. Validation is used to choose model settings and, later, to calibrate the prediction intervals. The test period is touched only for the final evaluation: 45 windows of 24 hours, which is 1,080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recursion simply: the model predicts one hour at a time. The prediction for hour 1 becomes part of the history used to build the features for hour 2, and so on up to hour 24. Only the model's own predictions are fed back; the actual values inside the forecast window are never used. The trade-off is that errors can accumulate over the 24 steps, which is one reason the raw prediction intervals were too narrow.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approaches were compared on identical test windows. Seasonal Naive is the simplest baseline: copy the same hour from one week earlier. Linear Regression is a simple model on the same features. Random Forest and XGBoost are tree ensembles. SARIMAX with Fourier terms is the classical time-series model. Candidates for each model were compared on the validation windows, the chosen ones refit on train plus validation, and tested once. XGBoost settings: 200 trees, depth 4, learning rate 0.05, subsample 0.8, column sample 0.8, seed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period: 45 windows, 1,080 hours. XGBoost: MAE 6.49, RMSE 9.06, R-squared 0.682. Random Forest: 6.38, 9.10, 0.679. The Diebold-Mariano test finds no significant difference between them, p = 0.81, so we do NOT claim XGBoost is better than Random Forest. Both are significantly better than Seasonal Naive and the SARIMAX configuration. Say clearly that SARIMAX result applies to the simple configuration we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shows only ONE illustrative test window, the first one, not the whole test period and not typical performance. The models follow the daily shape of demand but underestimate the morning peak; the SARIMAX curve overshoots it. This foreshadows the peak-hour problem we quantify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Rolling-origin means we move the forecast start forward one day at a time, retrain on everything before it, and forecast the next 24 hours. 91 daily windows. Median MAE 5.70 and median RMSE 7.42, close to the single-test figures; pooled R-squared 0.672. But single days vary a lot: the worst day had RMSE 28.87, often around holidays. Important: do not compare the mean per-window R-squared (-1.87) with the pooled R-squared, because on low-variance days like 26 December R-squared collapses to -134 even with a moderate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tells us how much each feature moves the predictions. For XGBoost, lag_1, the demand one hour earlier, carries about 59 percent of the total importance. Then hour of day and the same hour one and two weeks earlier. Rolling statistics and calendar flags add little. Note: the figure plots the average of Random Forest and XGBoost; the percentages quoted are from XGBoost alone. SHAP shows what the model uses, not what causes demand, and it was computed in a one-step setting with true past 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point forecast hides uncertainty, so we trained XGBoost to predict the 5th, 50th and 95th percentiles. The 5th to 95th range should be a 90 percent interval. We measured how often the actual demand fell inside it: only 71.2 percent. This is UNDER-coverage, not a success. Reasons: the intervals come from a single recursive path and ignore error building up over 24 steps; on many night hours the actual demand was exactly zero while the lower bound sat slightly above zero; and peaks were under-predicted. The first reason is plausible but we did not test it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Conformal calibration uses past errors on held-out data to correct the interval. Step 1: fit the quantile model on training data only. Step 2: on the validation windows, measure how far each actual value fell outside the interval. Step 3: take the 90 percent quantile of those distances: 2.63 kWh. Step 4: widen every test interval by 2.63 kWh each side. The test set was never used for calibration. Result on the test period: 90.9 percent empirical coverage, with average width rising from 29.46 to 34.45 kWh, about 17 percent wider. Say EMPIRICAL coverage; it is not a theoretical guarantee because time series are not exchangeable.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Peak hours are those where the actual demand is at or above the test-period 90th percentile, 37.46 kWh: 108 hours. After calibration, non-peak coverage is 93.0 percent but peak coverage is only 72.2 percent, and all peak misses were above the upper bound, meaning peaks are under-predicted. A single global offset cannot fix a peak-specific error, and because peak is defined by the actual value being high it is harder for any interval to contain. By horizon, coverage ranges from 71 to 100 percent: 100 percent at horizons 1 to 3 and 22 to 24, but only 71 to 73 percent at horizons 5 and 6, which is the morning arrival ramp at 9 to 10 am local time. We do not hide the poor horizons.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audited every experiment. Verified: chronological split; features use only past data (checked on 300 random rows); rolling statistics exclude the current hour; every rolling-origin fold trains only on earlier data; calibration used validation data only; test targets were never used for fitting or calibration. We also report caveats honestly: an independent re-run of the baseline gave MAE 6.46 instead of 6.49, most likely a library-version difference; two legacy result files hold superseded numbers and are not used; calibration windows and test windows start at different clock times; and the three XGBoost variants are not directly comparable on MAE or RMSE.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limitations: one site, about ten months, only 45 test days that are not independent, peaks still under-covered, and the conformal assumptions may not strictly hold for time series. Future work stays realistic: weather and traffic or event data, more sites and a longer history, horizon-specific calibration, and conformal methods designed for time series and distribution shift. We deliberately did not add more models just for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One: hourly EV charging demand can be forecast 24 hours ahead from its own history and calendar features with a typical error of about 6 to 7 kWh per hour; XGBoost and Random Forest perform similarly. Two: accuracy is stable on average but variable from day to day, worst on holiday-like days. Three: uncertainty needs checking: raw intervals covered 71.2 percent for a 90 percent target; validation-only calibration brought empirical coverage to 90.9 percent, with peaks still harder. Close by repeating that results are specific to one site and about ten months of data,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5852160" cy="164592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3" name="Text 0"/>
          <p:cNvSpPr/>
          <p:nvPr>
            <p:ph idx="101" type="body" hasCustomPrompt="1"/>
          </p:nvPr>
        </p:nvSpPr>
        <p:spPr>
          <a:xfrm>
            <a:off x="548640" y="2606040"/>
            <a:ext cx="5852160" cy="73152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800600"/>
            <a:ext cx="6400800" cy="228600"/>
          </a:xfrm>
          <a:prstGeom prst="rect">
            <a:avLst/>
          </a:prstGeom>
          <a:noFill/>
          <a:ln/>
        </p:spPr>
        <p:txBody>
          <a:bodyPr wrap="square" lIns="0" tIns="0" rIns="0" bIns="0" rtlCol="0" anchor="ctr"/>
          <a:lstStyle/>
          <a:p>
            <a:pPr indent="0" marL="0">
              <a:buNone/>
            </a:pPr>
            <a:r>
              <a:rPr lang="en-US" sz="1000" dirty="0">
                <a:solidFill>
                  <a:schemeClr val="accent6"/>
                </a:solidFill>
              </a:rPr>
              <a:t>EV Charging Demand Prediction  |  Vishwakarma Institute of Technology</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5-1.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5852160" cy="1645920"/>
          </a:xfrm>
          <a:prstGeom prst="rect">
            <a:avLst/>
          </a:prstGeom>
          <a:noFill/>
          <a:ln/>
        </p:spPr>
        <p:txBody>
          <a:bodyPr wrap="square" lIns="0" tIns="0" rIns="0" bIns="0" rtlCol="0" anchor="t"/>
          <a:lstStyle/>
          <a:p>
            <a:pPr algn="l" indent="0" marL="0">
              <a:buNone/>
            </a:pPr>
            <a:r>
              <a:rPr lang="en-US" sz="2800" b="1" dirty="0">
                <a:solidFill>
                  <a:schemeClr val="bg1"/>
                </a:solidFill>
              </a:rPr>
              <a:t>EV Charging Demand Prediction Using Machine Learning and Time-Series Analysis</a:t>
            </a:r>
            <a:endParaRPr lang="en-US" sz="2800" dirty="0"/>
          </a:p>
        </p:txBody>
      </p:sp>
      <p:sp>
        <p:nvSpPr>
          <p:cNvPr id="3" name="Text 0"/>
          <p:cNvSpPr/>
          <p:nvPr>
            <p:ph idx="101" type="body" hasCustomPrompt="1"/>
          </p:nvPr>
        </p:nvSpPr>
        <p:spPr>
          <a:xfrm>
            <a:off x="548640" y="2606040"/>
            <a:ext cx="5852160" cy="731520"/>
          </a:xfrm>
          <a:prstGeom prst="rect">
            <a:avLst/>
          </a:prstGeom>
          <a:noFill/>
          <a:ln/>
        </p:spPr>
        <p:txBody>
          <a:bodyPr wrap="square" lIns="0" tIns="0" rIns="0" bIns="0" rtlCol="0" anchor="t"/>
          <a:lstStyle/>
          <a:p>
            <a:pPr indent="0" marL="0">
              <a:buNone/>
            </a:pPr>
            <a:r>
              <a:rPr lang="en-US" sz="1600" dirty="0">
                <a:solidFill>
                  <a:schemeClr val="bg2"/>
                </a:solidFill>
              </a:rPr>
              <a:t>24-hour forecasting, rolling-origin evaluation and calibrated prediction intervals</a:t>
            </a:r>
            <a:endParaRPr lang="en-US" sz="1600" dirty="0"/>
          </a:p>
        </p:txBody>
      </p:sp>
      <p:sp>
        <p:nvSpPr>
          <p:cNvPr id="4" name="Decor circle 1"/>
          <p:cNvSpPr/>
          <p:nvPr/>
        </p:nvSpPr>
        <p:spPr>
          <a:xfrm>
            <a:off x="6492240" y="457200"/>
            <a:ext cx="3108960" cy="3108960"/>
          </a:xfrm>
          <a:prstGeom prst="ellipse">
            <a:avLst/>
          </a:prstGeom>
          <a:solidFill>
            <a:schemeClr val="accent4">
              <a:alpha val="40000"/>
            </a:schemeClr>
          </a:solidFill>
          <a:ln w="12700">
            <a:solidFill>
              <a:schemeClr val="accent4">
                <a:alpha val="0"/>
              </a:schemeClr>
            </a:solidFill>
            <a:prstDash val="solid"/>
          </a:ln>
        </p:spPr>
      </p:sp>
      <p:sp>
        <p:nvSpPr>
          <p:cNvPr id="5" name="Decor circle 2"/>
          <p:cNvSpPr/>
          <p:nvPr/>
        </p:nvSpPr>
        <p:spPr>
          <a:xfrm>
            <a:off x="7498080" y="2377440"/>
            <a:ext cx="2377440" cy="2377440"/>
          </a:xfrm>
          <a:prstGeom prst="ellipse">
            <a:avLst/>
          </a:prstGeom>
          <a:solidFill>
            <a:schemeClr val="accent1">
              <a:alpha val="50000"/>
            </a:schemeClr>
          </a:solidFill>
          <a:ln w="12700">
            <a:solidFill>
              <a:schemeClr val="accent1">
                <a:alpha val="0"/>
              </a:schemeClr>
            </a:solidFill>
            <a:prstDash val="solid"/>
          </a:ln>
        </p:spPr>
      </p:sp>
      <p:sp>
        <p:nvSpPr>
          <p:cNvPr id="6" name="Text 4"/>
          <p:cNvSpPr txBox="1"/>
          <p:nvPr/>
        </p:nvSpPr>
        <p:spPr>
          <a:xfrm>
            <a:off x="548640" y="3703320"/>
            <a:ext cx="6766560" cy="100584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Abhishek Dombale  |  Harshwardhan Gangarde</a:t>
            </a:r>
            <a:endParaRPr lang="en-US" sz="1600" dirty="0"/>
          </a:p>
          <a:p>
            <a:pPr indent="0" marL="0">
              <a:spcAft>
                <a:spcPts val="400"/>
              </a:spcAft>
              <a:buNone/>
            </a:pPr>
            <a:r>
              <a:rPr lang="en-US" sz="1600" dirty="0">
                <a:solidFill>
                  <a:schemeClr val="bg1"/>
                </a:solidFill>
              </a:rPr>
              <a:t>Guide: Prof. Gopal Deshmukh</a:t>
            </a:r>
            <a:endParaRPr lang="en-US" sz="1600" dirty="0"/>
          </a:p>
          <a:p>
            <a:pPr indent="0" marL="0">
              <a:spcAft>
                <a:spcPts val="400"/>
              </a:spcAft>
              <a:buNone/>
            </a:pPr>
            <a:r>
              <a:rPr lang="en-US" sz="1600" dirty="0">
                <a:solidFill>
                  <a:schemeClr val="bg1"/>
                </a:solidFill>
              </a:rPr>
              <a:t>Vishwakarma Institute of Technology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Why forecast EV charging demand?</a:t>
            </a:r>
            <a:endParaRPr lang="en-US" sz="2600" dirty="0"/>
          </a:p>
        </p:txBody>
      </p:sp>
      <p:sp>
        <p:nvSpPr>
          <p:cNvPr id="4" name="Motivation card 1"/>
          <p:cNvSpPr/>
          <p:nvPr/>
        </p:nvSpPr>
        <p:spPr>
          <a:xfrm>
            <a:off x="457200" y="1280160"/>
            <a:ext cx="2560320" cy="2103120"/>
          </a:xfrm>
          <a:prstGeom prst="roundRect">
            <a:avLst>
              <a:gd name="adj" fmla="val 4348"/>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5" name="Step 1"/>
          <p:cNvSpPr txBox="1"/>
          <p:nvPr/>
        </p:nvSpPr>
        <p:spPr>
          <a:xfrm>
            <a:off x="640080" y="146304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640080" y="2011680"/>
            <a:ext cx="2194560" cy="365760"/>
          </a:xfrm>
          <a:prstGeom prst="rect">
            <a:avLst/>
          </a:prstGeom>
          <a:noFill/>
          <a:ln/>
        </p:spPr>
        <p:txBody>
          <a:bodyPr wrap="square" lIns="0" tIns="0" rIns="0" bIns="0" rtlCol="0" anchor="t"/>
          <a:lstStyle/>
          <a:p>
            <a:pPr indent="0" marL="0">
              <a:buNone/>
            </a:pPr>
            <a:r>
              <a:rPr lang="en-US" sz="1600" b="1" dirty="0">
                <a:solidFill>
                  <a:schemeClr val="tx1"/>
                </a:solidFill>
              </a:rPr>
              <a:t>Station operators</a:t>
            </a:r>
            <a:endParaRPr lang="en-US" sz="1600" dirty="0"/>
          </a:p>
        </p:txBody>
      </p:sp>
      <p:sp>
        <p:nvSpPr>
          <p:cNvPr id="7" name="Text 4"/>
          <p:cNvSpPr txBox="1"/>
          <p:nvPr/>
        </p:nvSpPr>
        <p:spPr>
          <a:xfrm>
            <a:off x="640080" y="2423160"/>
            <a:ext cx="2194560" cy="914400"/>
          </a:xfrm>
          <a:prstGeom prst="rect">
            <a:avLst/>
          </a:prstGeom>
          <a:noFill/>
          <a:ln/>
        </p:spPr>
        <p:txBody>
          <a:bodyPr wrap="square" lIns="0" tIns="0" rIns="0" bIns="0" rtlCol="0" anchor="t"/>
          <a:lstStyle/>
          <a:p>
            <a:pPr indent="0" marL="0">
              <a:buNone/>
            </a:pPr>
            <a:r>
              <a:rPr lang="en-US" sz="1400" dirty="0">
                <a:solidFill>
                  <a:schemeClr val="tx1"/>
                </a:solidFill>
              </a:rPr>
              <a:t>Plan staffing, maintenance and charging policies around expected usage.</a:t>
            </a:r>
            <a:endParaRPr lang="en-US" sz="1400" dirty="0"/>
          </a:p>
        </p:txBody>
      </p:sp>
      <p:sp>
        <p:nvSpPr>
          <p:cNvPr id="8" name="Motivation card 2"/>
          <p:cNvSpPr/>
          <p:nvPr/>
        </p:nvSpPr>
        <p:spPr>
          <a:xfrm>
            <a:off x="3291840" y="1280160"/>
            <a:ext cx="2560320" cy="2103120"/>
          </a:xfrm>
          <a:prstGeom prst="roundRect">
            <a:avLst>
              <a:gd name="adj" fmla="val 4348"/>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9" name="Step 2"/>
          <p:cNvSpPr txBox="1"/>
          <p:nvPr/>
        </p:nvSpPr>
        <p:spPr>
          <a:xfrm>
            <a:off x="3474720" y="146304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3474720" y="2011680"/>
            <a:ext cx="2194560" cy="365760"/>
          </a:xfrm>
          <a:prstGeom prst="rect">
            <a:avLst/>
          </a:prstGeom>
          <a:noFill/>
          <a:ln/>
        </p:spPr>
        <p:txBody>
          <a:bodyPr wrap="square" lIns="0" tIns="0" rIns="0" bIns="0" rtlCol="0" anchor="t"/>
          <a:lstStyle/>
          <a:p>
            <a:pPr indent="0" marL="0">
              <a:buNone/>
            </a:pPr>
            <a:r>
              <a:rPr lang="en-US" sz="1600" b="1" dirty="0">
                <a:solidFill>
                  <a:schemeClr val="tx1"/>
                </a:solidFill>
              </a:rPr>
              <a:t>Grid and peak load</a:t>
            </a:r>
            <a:endParaRPr lang="en-US" sz="1600" dirty="0"/>
          </a:p>
        </p:txBody>
      </p:sp>
      <p:sp>
        <p:nvSpPr>
          <p:cNvPr id="11" name="Text 8"/>
          <p:cNvSpPr txBox="1"/>
          <p:nvPr/>
        </p:nvSpPr>
        <p:spPr>
          <a:xfrm>
            <a:off x="3474720" y="2423160"/>
            <a:ext cx="2194560" cy="914400"/>
          </a:xfrm>
          <a:prstGeom prst="rect">
            <a:avLst/>
          </a:prstGeom>
          <a:noFill/>
          <a:ln/>
        </p:spPr>
        <p:txBody>
          <a:bodyPr wrap="square" lIns="0" tIns="0" rIns="0" bIns="0" rtlCol="0" anchor="t"/>
          <a:lstStyle/>
          <a:p>
            <a:pPr indent="0" marL="0">
              <a:buNone/>
            </a:pPr>
            <a:r>
              <a:rPr lang="en-US" sz="1400" dirty="0">
                <a:solidFill>
                  <a:schemeClr val="tx1"/>
                </a:solidFill>
              </a:rPr>
              <a:t>High-demand hours drive capacity needs and can only be managed if anticipated.</a:t>
            </a:r>
            <a:endParaRPr lang="en-US" sz="1400" dirty="0"/>
          </a:p>
        </p:txBody>
      </p:sp>
      <p:sp>
        <p:nvSpPr>
          <p:cNvPr id="12" name="Motivation card 3"/>
          <p:cNvSpPr/>
          <p:nvPr/>
        </p:nvSpPr>
        <p:spPr>
          <a:xfrm>
            <a:off x="6126480" y="1280160"/>
            <a:ext cx="2560320" cy="2103120"/>
          </a:xfrm>
          <a:prstGeom prst="roundRect">
            <a:avLst>
              <a:gd name="adj" fmla="val 4348"/>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13" name="Step 3"/>
          <p:cNvSpPr txBox="1"/>
          <p:nvPr/>
        </p:nvSpPr>
        <p:spPr>
          <a:xfrm>
            <a:off x="6309360" y="146304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1"/>
          <p:cNvSpPr txBox="1"/>
          <p:nvPr/>
        </p:nvSpPr>
        <p:spPr>
          <a:xfrm>
            <a:off x="6309360" y="2011680"/>
            <a:ext cx="2194560" cy="365760"/>
          </a:xfrm>
          <a:prstGeom prst="rect">
            <a:avLst/>
          </a:prstGeom>
          <a:noFill/>
          <a:ln/>
        </p:spPr>
        <p:txBody>
          <a:bodyPr wrap="square" lIns="0" tIns="0" rIns="0" bIns="0" rtlCol="0" anchor="t"/>
          <a:lstStyle/>
          <a:p>
            <a:pPr indent="0" marL="0">
              <a:buNone/>
            </a:pPr>
            <a:r>
              <a:rPr lang="en-US" sz="1600" b="1" dirty="0">
                <a:solidFill>
                  <a:schemeClr val="tx1"/>
                </a:solidFill>
              </a:rPr>
              <a:t>Planning and allocation</a:t>
            </a:r>
            <a:endParaRPr lang="en-US" sz="1600" dirty="0"/>
          </a:p>
        </p:txBody>
      </p:sp>
      <p:sp>
        <p:nvSpPr>
          <p:cNvPr id="15" name="Text 12"/>
          <p:cNvSpPr txBox="1"/>
          <p:nvPr/>
        </p:nvSpPr>
        <p:spPr>
          <a:xfrm>
            <a:off x="6309360" y="2423160"/>
            <a:ext cx="2194560" cy="914400"/>
          </a:xfrm>
          <a:prstGeom prst="rect">
            <a:avLst/>
          </a:prstGeom>
          <a:noFill/>
          <a:ln/>
        </p:spPr>
        <p:txBody>
          <a:bodyPr wrap="square" lIns="0" tIns="0" rIns="0" bIns="0" rtlCol="0" anchor="t"/>
          <a:lstStyle/>
          <a:p>
            <a:pPr indent="0" marL="0">
              <a:buNone/>
            </a:pPr>
            <a:r>
              <a:rPr lang="en-US" sz="1400" dirty="0">
                <a:solidFill>
                  <a:schemeClr val="tx1"/>
                </a:solidFill>
              </a:rPr>
              <a:t>Share limited power between vehicles and size future infrastructure.</a:t>
            </a:r>
            <a:endParaRPr lang="en-US" sz="1400" dirty="0"/>
          </a:p>
        </p:txBody>
      </p:sp>
      <p:sp>
        <p:nvSpPr>
          <p:cNvPr id="16" name="Problem statement"/>
          <p:cNvSpPr/>
          <p:nvPr/>
        </p:nvSpPr>
        <p:spPr>
          <a:xfrm>
            <a:off x="457200" y="3657600"/>
            <a:ext cx="8229600" cy="868680"/>
          </a:xfrm>
          <a:prstGeom prst="roundRect">
            <a:avLst>
              <a:gd name="adj" fmla="val 10526"/>
            </a:avLst>
          </a:prstGeom>
          <a:solidFill>
            <a:schemeClr val="accent1"/>
          </a:solidFill>
          <a:ln w="6350">
            <a:solidFill>
              <a:schemeClr val="accent1"/>
            </a:solidFill>
            <a:prstDash val="solid"/>
          </a:ln>
          <a:effectLst>
            <a:outerShdw sx="100000" sy="100000" kx="0" ky="0" algn="bl" rotWithShape="0" blurRad="76200" dist="25400" dir="5400000">
              <a:srgbClr val="111827">
                <a:alpha val="12000"/>
              </a:srgbClr>
            </a:outerShdw>
          </a:effectLst>
        </p:spPr>
      </p:sp>
      <p:sp>
        <p:nvSpPr>
          <p:cNvPr id="17" name="Text 14"/>
          <p:cNvSpPr txBox="1"/>
          <p:nvPr/>
        </p:nvSpPr>
        <p:spPr>
          <a:xfrm>
            <a:off x="640080" y="3749040"/>
            <a:ext cx="7863840" cy="685800"/>
          </a:xfrm>
          <a:prstGeom prst="rect">
            <a:avLst/>
          </a:prstGeom>
          <a:noFill/>
          <a:ln/>
        </p:spPr>
        <p:txBody>
          <a:bodyPr wrap="square" lIns="0" tIns="0" rIns="0" bIns="0" rtlCol="0" anchor="ctr"/>
          <a:lstStyle/>
          <a:p>
            <a:pPr indent="0" marL="0">
              <a:buNone/>
            </a:pPr>
            <a:r>
              <a:rPr lang="en-US" sz="1600" b="1" dirty="0">
                <a:solidFill>
                  <a:schemeClr val="bg1"/>
                </a:solidFill>
              </a:rPr>
              <a:t>The problem: predict hourly demand for the next 24 hours, and state how uncertain that prediction is.</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Six objectives, all implemented</a:t>
            </a:r>
            <a:endParaRPr lang="en-US" sz="2600" dirty="0"/>
          </a:p>
        </p:txBody>
      </p:sp>
      <p:sp>
        <p:nvSpPr>
          <p:cNvPr id="4" name="Objective 1"/>
          <p:cNvSpPr/>
          <p:nvPr/>
        </p:nvSpPr>
        <p:spPr>
          <a:xfrm>
            <a:off x="457200" y="1280160"/>
            <a:ext cx="4023360" cy="960120"/>
          </a:xfrm>
          <a:prstGeom prst="roundRect">
            <a:avLst>
              <a:gd name="adj" fmla="val 9524"/>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5" name="Step 1"/>
          <p:cNvSpPr txBox="1"/>
          <p:nvPr/>
        </p:nvSpPr>
        <p:spPr>
          <a:xfrm>
            <a:off x="640080" y="15544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234440" y="1389888"/>
            <a:ext cx="3108960" cy="749808"/>
          </a:xfrm>
          <a:prstGeom prst="rect">
            <a:avLst/>
          </a:prstGeom>
          <a:noFill/>
          <a:ln/>
        </p:spPr>
        <p:txBody>
          <a:bodyPr wrap="square" lIns="0" tIns="0" rIns="0" bIns="0" rtlCol="0" anchor="ctr"/>
          <a:lstStyle/>
          <a:p>
            <a:pPr indent="0" marL="0">
              <a:buNone/>
            </a:pPr>
            <a:r>
              <a:rPr lang="en-US" sz="1400" dirty="0">
                <a:solidFill>
                  <a:schemeClr val="tx1"/>
                </a:solidFill>
              </a:rPr>
              <a:t>Build an hourly demand series from ACN-Data sessions</a:t>
            </a:r>
            <a:endParaRPr lang="en-US" sz="1400" dirty="0"/>
          </a:p>
        </p:txBody>
      </p:sp>
      <p:sp>
        <p:nvSpPr>
          <p:cNvPr id="7" name="Objective 2"/>
          <p:cNvSpPr/>
          <p:nvPr/>
        </p:nvSpPr>
        <p:spPr>
          <a:xfrm>
            <a:off x="4663440" y="1280160"/>
            <a:ext cx="4023360" cy="960120"/>
          </a:xfrm>
          <a:prstGeom prst="roundRect">
            <a:avLst>
              <a:gd name="adj" fmla="val 9524"/>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8" name="Step 2"/>
          <p:cNvSpPr txBox="1"/>
          <p:nvPr/>
        </p:nvSpPr>
        <p:spPr>
          <a:xfrm>
            <a:off x="4846320" y="15544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6"/>
          <p:cNvSpPr txBox="1"/>
          <p:nvPr/>
        </p:nvSpPr>
        <p:spPr>
          <a:xfrm>
            <a:off x="5440680" y="1389888"/>
            <a:ext cx="3108960" cy="749808"/>
          </a:xfrm>
          <a:prstGeom prst="rect">
            <a:avLst/>
          </a:prstGeom>
          <a:noFill/>
          <a:ln/>
        </p:spPr>
        <p:txBody>
          <a:bodyPr wrap="square" lIns="0" tIns="0" rIns="0" bIns="0" rtlCol="0" anchor="ctr"/>
          <a:lstStyle/>
          <a:p>
            <a:pPr indent="0" marL="0">
              <a:buNone/>
            </a:pPr>
            <a:r>
              <a:rPr lang="en-US" sz="1400" dirty="0">
                <a:solidFill>
                  <a:schemeClr val="tx1"/>
                </a:solidFill>
              </a:rPr>
              <a:t>Engineer leakage-free lag, rolling and calendar features</a:t>
            </a:r>
            <a:endParaRPr lang="en-US" sz="1400" dirty="0"/>
          </a:p>
        </p:txBody>
      </p:sp>
      <p:sp>
        <p:nvSpPr>
          <p:cNvPr id="10" name="Objective 3"/>
          <p:cNvSpPr/>
          <p:nvPr/>
        </p:nvSpPr>
        <p:spPr>
          <a:xfrm>
            <a:off x="457200" y="2377440"/>
            <a:ext cx="4023360" cy="960120"/>
          </a:xfrm>
          <a:prstGeom prst="roundRect">
            <a:avLst>
              <a:gd name="adj" fmla="val 9524"/>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11" name="Step 3"/>
          <p:cNvSpPr txBox="1"/>
          <p:nvPr/>
        </p:nvSpPr>
        <p:spPr>
          <a:xfrm>
            <a:off x="640080" y="265176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9"/>
          <p:cNvSpPr txBox="1"/>
          <p:nvPr/>
        </p:nvSpPr>
        <p:spPr>
          <a:xfrm>
            <a:off x="1234440" y="2487168"/>
            <a:ext cx="3108960" cy="749808"/>
          </a:xfrm>
          <a:prstGeom prst="rect">
            <a:avLst/>
          </a:prstGeom>
          <a:noFill/>
          <a:ln/>
        </p:spPr>
        <p:txBody>
          <a:bodyPr wrap="square" lIns="0" tIns="0" rIns="0" bIns="0" rtlCol="0" anchor="ctr"/>
          <a:lstStyle/>
          <a:p>
            <a:pPr indent="0" marL="0">
              <a:buNone/>
            </a:pPr>
            <a:r>
              <a:rPr lang="en-US" sz="1400" dirty="0">
                <a:solidFill>
                  <a:schemeClr val="tx1"/>
                </a:solidFill>
              </a:rPr>
              <a:t>Forecast 24 hours ahead and compare five approaches</a:t>
            </a:r>
            <a:endParaRPr lang="en-US" sz="1400" dirty="0"/>
          </a:p>
        </p:txBody>
      </p:sp>
      <p:sp>
        <p:nvSpPr>
          <p:cNvPr id="13" name="Objective 4"/>
          <p:cNvSpPr/>
          <p:nvPr/>
        </p:nvSpPr>
        <p:spPr>
          <a:xfrm>
            <a:off x="4663440" y="2377440"/>
            <a:ext cx="4023360" cy="960120"/>
          </a:xfrm>
          <a:prstGeom prst="roundRect">
            <a:avLst>
              <a:gd name="adj" fmla="val 9524"/>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14" name="Step 4"/>
          <p:cNvSpPr txBox="1"/>
          <p:nvPr/>
        </p:nvSpPr>
        <p:spPr>
          <a:xfrm>
            <a:off x="4846320" y="265176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xt 12"/>
          <p:cNvSpPr txBox="1"/>
          <p:nvPr/>
        </p:nvSpPr>
        <p:spPr>
          <a:xfrm>
            <a:off x="5440680" y="2487168"/>
            <a:ext cx="3108960" cy="749808"/>
          </a:xfrm>
          <a:prstGeom prst="rect">
            <a:avLst/>
          </a:prstGeom>
          <a:noFill/>
          <a:ln/>
        </p:spPr>
        <p:txBody>
          <a:bodyPr wrap="square" lIns="0" tIns="0" rIns="0" bIns="0" rtlCol="0" anchor="ctr"/>
          <a:lstStyle/>
          <a:p>
            <a:pPr indent="0" marL="0">
              <a:buNone/>
            </a:pPr>
            <a:r>
              <a:rPr lang="en-US" sz="1400" dirty="0">
                <a:solidFill>
                  <a:schemeClr val="tx1"/>
                </a:solidFill>
              </a:rPr>
              <a:t>Test stability over 91 rolling daily windows</a:t>
            </a:r>
            <a:endParaRPr lang="en-US" sz="1400" dirty="0"/>
          </a:p>
        </p:txBody>
      </p:sp>
      <p:sp>
        <p:nvSpPr>
          <p:cNvPr id="16" name="Objective 5"/>
          <p:cNvSpPr/>
          <p:nvPr/>
        </p:nvSpPr>
        <p:spPr>
          <a:xfrm>
            <a:off x="457200" y="3474720"/>
            <a:ext cx="4023360" cy="960120"/>
          </a:xfrm>
          <a:prstGeom prst="roundRect">
            <a:avLst>
              <a:gd name="adj" fmla="val 9524"/>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17" name="Step 5"/>
          <p:cNvSpPr txBox="1"/>
          <p:nvPr/>
        </p:nvSpPr>
        <p:spPr>
          <a:xfrm>
            <a:off x="640080" y="374904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8" name="Text 15"/>
          <p:cNvSpPr txBox="1"/>
          <p:nvPr/>
        </p:nvSpPr>
        <p:spPr>
          <a:xfrm>
            <a:off x="1234440" y="3584448"/>
            <a:ext cx="3108960" cy="749808"/>
          </a:xfrm>
          <a:prstGeom prst="rect">
            <a:avLst/>
          </a:prstGeom>
          <a:noFill/>
          <a:ln/>
        </p:spPr>
        <p:txBody>
          <a:bodyPr wrap="square" lIns="0" tIns="0" rIns="0" bIns="0" rtlCol="0" anchor="ctr"/>
          <a:lstStyle/>
          <a:p>
            <a:pPr indent="0" marL="0">
              <a:buNone/>
            </a:pPr>
            <a:r>
              <a:rPr lang="en-US" sz="1400" dirty="0">
                <a:solidFill>
                  <a:schemeClr val="tx1"/>
                </a:solidFill>
              </a:rPr>
              <a:t>Measure and calibrate 90% prediction intervals</a:t>
            </a:r>
            <a:endParaRPr lang="en-US" sz="1400" dirty="0"/>
          </a:p>
        </p:txBody>
      </p:sp>
      <p:sp>
        <p:nvSpPr>
          <p:cNvPr id="19" name="Objective 6"/>
          <p:cNvSpPr/>
          <p:nvPr/>
        </p:nvSpPr>
        <p:spPr>
          <a:xfrm>
            <a:off x="4663440" y="3474720"/>
            <a:ext cx="4023360" cy="960120"/>
          </a:xfrm>
          <a:prstGeom prst="roundRect">
            <a:avLst>
              <a:gd name="adj" fmla="val 9524"/>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20" name="Step 6"/>
          <p:cNvSpPr txBox="1"/>
          <p:nvPr/>
        </p:nvSpPr>
        <p:spPr>
          <a:xfrm>
            <a:off x="4846320" y="374904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1" name="Text 18"/>
          <p:cNvSpPr txBox="1"/>
          <p:nvPr/>
        </p:nvSpPr>
        <p:spPr>
          <a:xfrm>
            <a:off x="5440680" y="3584448"/>
            <a:ext cx="3108960" cy="749808"/>
          </a:xfrm>
          <a:prstGeom prst="rect">
            <a:avLst/>
          </a:prstGeom>
          <a:noFill/>
          <a:ln/>
        </p:spPr>
        <p:txBody>
          <a:bodyPr wrap="square" lIns="0" tIns="0" rIns="0" bIns="0" rtlCol="0" anchor="ctr"/>
          <a:lstStyle/>
          <a:p>
            <a:pPr indent="0" marL="0">
              <a:buNone/>
            </a:pPr>
            <a:r>
              <a:rPr lang="en-US" sz="1400" dirty="0">
                <a:solidFill>
                  <a:schemeClr val="tx1"/>
                </a:solidFill>
              </a:rPr>
              <a:t>Explain drivers with SHAP; study peaks and horizons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Real data: Caltech ACN-Data, about ten months</a:t>
            </a:r>
            <a:endParaRPr lang="en-US" sz="2600" dirty="0"/>
          </a:p>
        </p:txBody>
      </p:sp>
      <p:sp>
        <p:nvSpPr>
          <p:cNvPr id="4" name="Stat hourly observations, no gaps"/>
          <p:cNvSpPr/>
          <p:nvPr/>
        </p:nvSpPr>
        <p:spPr>
          <a:xfrm>
            <a:off x="457200" y="1280160"/>
            <a:ext cx="1920240" cy="1371600"/>
          </a:xfrm>
          <a:prstGeom prst="roundRect">
            <a:avLst>
              <a:gd name="adj" fmla="val 6667"/>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5" name="Text 2"/>
          <p:cNvSpPr txBox="1"/>
          <p:nvPr/>
        </p:nvSpPr>
        <p:spPr>
          <a:xfrm>
            <a:off x="594360" y="1389888"/>
            <a:ext cx="1645920" cy="6858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7,288</a:t>
            </a:r>
            <a:endParaRPr lang="en-US" sz="2800" dirty="0"/>
          </a:p>
        </p:txBody>
      </p:sp>
      <p:sp>
        <p:nvSpPr>
          <p:cNvPr id="6" name="Text 3"/>
          <p:cNvSpPr txBox="1"/>
          <p:nvPr/>
        </p:nvSpPr>
        <p:spPr>
          <a:xfrm>
            <a:off x="594360" y="2075688"/>
            <a:ext cx="1645920" cy="521208"/>
          </a:xfrm>
          <a:prstGeom prst="rect">
            <a:avLst/>
          </a:prstGeom>
          <a:noFill/>
          <a:ln/>
        </p:spPr>
        <p:txBody>
          <a:bodyPr wrap="square" lIns="0" tIns="0" rIns="0" bIns="0" rtlCol="0" anchor="t"/>
          <a:lstStyle/>
          <a:p>
            <a:pPr indent="0" marL="0">
              <a:buNone/>
            </a:pPr>
            <a:r>
              <a:rPr lang="en-US" sz="1300" dirty="0">
                <a:solidFill>
                  <a:schemeClr val="tx1"/>
                </a:solidFill>
              </a:rPr>
              <a:t>hourly observations, no gaps</a:t>
            </a:r>
            <a:endParaRPr lang="en-US" sz="1300" dirty="0"/>
          </a:p>
        </p:txBody>
      </p:sp>
      <p:sp>
        <p:nvSpPr>
          <p:cNvPr id="7" name="Stat charging sessions used"/>
          <p:cNvSpPr/>
          <p:nvPr/>
        </p:nvSpPr>
        <p:spPr>
          <a:xfrm>
            <a:off x="2542032" y="1280160"/>
            <a:ext cx="1920240" cy="1371600"/>
          </a:xfrm>
          <a:prstGeom prst="roundRect">
            <a:avLst>
              <a:gd name="adj" fmla="val 6667"/>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8" name="Text 5"/>
          <p:cNvSpPr txBox="1"/>
          <p:nvPr/>
        </p:nvSpPr>
        <p:spPr>
          <a:xfrm>
            <a:off x="2679192" y="1389888"/>
            <a:ext cx="1645920" cy="6858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16,972</a:t>
            </a:r>
            <a:endParaRPr lang="en-US" sz="2800" dirty="0"/>
          </a:p>
        </p:txBody>
      </p:sp>
      <p:sp>
        <p:nvSpPr>
          <p:cNvPr id="9" name="Text 6"/>
          <p:cNvSpPr txBox="1"/>
          <p:nvPr/>
        </p:nvSpPr>
        <p:spPr>
          <a:xfrm>
            <a:off x="2679192" y="2075688"/>
            <a:ext cx="1645920" cy="521208"/>
          </a:xfrm>
          <a:prstGeom prst="rect">
            <a:avLst/>
          </a:prstGeom>
          <a:noFill/>
          <a:ln/>
        </p:spPr>
        <p:txBody>
          <a:bodyPr wrap="square" lIns="0" tIns="0" rIns="0" bIns="0" rtlCol="0" anchor="t"/>
          <a:lstStyle/>
          <a:p>
            <a:pPr indent="0" marL="0">
              <a:buNone/>
            </a:pPr>
            <a:r>
              <a:rPr lang="en-US" sz="1300" dirty="0">
                <a:solidFill>
                  <a:schemeClr val="tx1"/>
                </a:solidFill>
              </a:rPr>
              <a:t>charging sessions used</a:t>
            </a:r>
            <a:endParaRPr lang="en-US" sz="1300" dirty="0"/>
          </a:p>
        </p:txBody>
      </p:sp>
      <p:sp>
        <p:nvSpPr>
          <p:cNvPr id="10" name="Stat months of data: 25 Apr 2018 to 22 Feb 2019"/>
          <p:cNvSpPr/>
          <p:nvPr/>
        </p:nvSpPr>
        <p:spPr>
          <a:xfrm>
            <a:off x="4626864" y="1280160"/>
            <a:ext cx="1920240" cy="1371600"/>
          </a:xfrm>
          <a:prstGeom prst="roundRect">
            <a:avLst>
              <a:gd name="adj" fmla="val 6667"/>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11" name="Text 8"/>
          <p:cNvSpPr txBox="1"/>
          <p:nvPr/>
        </p:nvSpPr>
        <p:spPr>
          <a:xfrm>
            <a:off x="4764024" y="1389888"/>
            <a:ext cx="1645920" cy="6858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10</a:t>
            </a:r>
            <a:endParaRPr lang="en-US" sz="2800" dirty="0"/>
          </a:p>
        </p:txBody>
      </p:sp>
      <p:sp>
        <p:nvSpPr>
          <p:cNvPr id="12" name="Text 9"/>
          <p:cNvSpPr txBox="1"/>
          <p:nvPr/>
        </p:nvSpPr>
        <p:spPr>
          <a:xfrm>
            <a:off x="4764024" y="2075688"/>
            <a:ext cx="1645920" cy="521208"/>
          </a:xfrm>
          <a:prstGeom prst="rect">
            <a:avLst/>
          </a:prstGeom>
          <a:noFill/>
          <a:ln/>
        </p:spPr>
        <p:txBody>
          <a:bodyPr wrap="square" lIns="0" tIns="0" rIns="0" bIns="0" rtlCol="0" anchor="t"/>
          <a:lstStyle/>
          <a:p>
            <a:pPr indent="0" marL="0">
              <a:buNone/>
            </a:pPr>
            <a:r>
              <a:rPr lang="en-US" sz="1300" dirty="0">
                <a:solidFill>
                  <a:schemeClr val="tx1"/>
                </a:solidFill>
              </a:rPr>
              <a:t>months of data: 25 Apr 2018 to 22 Feb 2019</a:t>
            </a:r>
            <a:endParaRPr lang="en-US" sz="1300" dirty="0"/>
          </a:p>
        </p:txBody>
      </p:sp>
      <p:sp>
        <p:nvSpPr>
          <p:cNvPr id="13" name="Stat hours with zero demand"/>
          <p:cNvSpPr/>
          <p:nvPr/>
        </p:nvSpPr>
        <p:spPr>
          <a:xfrm>
            <a:off x="6711696" y="1280160"/>
            <a:ext cx="1920240" cy="1371600"/>
          </a:xfrm>
          <a:prstGeom prst="roundRect">
            <a:avLst>
              <a:gd name="adj" fmla="val 6667"/>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14" name="Text 11"/>
          <p:cNvSpPr txBox="1"/>
          <p:nvPr/>
        </p:nvSpPr>
        <p:spPr>
          <a:xfrm>
            <a:off x="6848856" y="1389888"/>
            <a:ext cx="1645920" cy="6858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486</a:t>
            </a:r>
            <a:endParaRPr lang="en-US" sz="2800" dirty="0"/>
          </a:p>
        </p:txBody>
      </p:sp>
      <p:sp>
        <p:nvSpPr>
          <p:cNvPr id="15" name="Text 12"/>
          <p:cNvSpPr txBox="1"/>
          <p:nvPr/>
        </p:nvSpPr>
        <p:spPr>
          <a:xfrm>
            <a:off x="6848856" y="2075688"/>
            <a:ext cx="1645920" cy="521208"/>
          </a:xfrm>
          <a:prstGeom prst="rect">
            <a:avLst/>
          </a:prstGeom>
          <a:noFill/>
          <a:ln/>
        </p:spPr>
        <p:txBody>
          <a:bodyPr wrap="square" lIns="0" tIns="0" rIns="0" bIns="0" rtlCol="0" anchor="t"/>
          <a:lstStyle/>
          <a:p>
            <a:pPr indent="0" marL="0">
              <a:buNone/>
            </a:pPr>
            <a:r>
              <a:rPr lang="en-US" sz="1300" dirty="0">
                <a:solidFill>
                  <a:schemeClr val="tx1"/>
                </a:solidFill>
              </a:rPr>
              <a:t>hours with zero demand</a:t>
            </a:r>
            <a:endParaRPr lang="en-US" sz="1300" dirty="0"/>
          </a:p>
        </p:txBody>
      </p:sp>
      <p:sp>
        <p:nvSpPr>
          <p:cNvPr id="16" name="Dataset notes"/>
          <p:cNvSpPr/>
          <p:nvPr/>
        </p:nvSpPr>
        <p:spPr>
          <a:xfrm>
            <a:off x="457200" y="2926080"/>
            <a:ext cx="8229600" cy="1417320"/>
          </a:xfrm>
          <a:prstGeom prst="roundRect">
            <a:avLst>
              <a:gd name="adj" fmla="val 6452"/>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17" name="Text 14"/>
          <p:cNvSpPr txBox="1"/>
          <p:nvPr/>
        </p:nvSpPr>
        <p:spPr>
          <a:xfrm>
            <a:off x="685800" y="3063240"/>
            <a:ext cx="7772400" cy="1325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Source: ACN-Data (Lee, Li and Low, e-Energy 2019), one Caltech site with 54 stations.</a:t>
            </a:r>
            <a:endParaRPr lang="en-US" sz="1400" dirty="0"/>
          </a:p>
          <a:p>
            <a:pPr marL="342900" indent="-342900">
              <a:spcAft>
                <a:spcPts val="600"/>
              </a:spcAft>
              <a:buSzPct val="100000"/>
              <a:buChar char="•"/>
            </a:pPr>
            <a:r>
              <a:rPr lang="en-US" sz="1400" dirty="0">
                <a:solidFill>
                  <a:schemeClr val="tx1"/>
                </a:solidFill>
              </a:rPr>
              <a:t>Hourly demand is reconstructed: session energy spread evenly over its charging time (not metered load).</a:t>
            </a:r>
            <a:endParaRPr lang="en-US" sz="1400" dirty="0"/>
          </a:p>
          <a:p>
            <a:pPr marL="342900" indent="-342900">
              <a:spcAft>
                <a:spcPts val="600"/>
              </a:spcAft>
              <a:buSzPct val="100000"/>
              <a:buChar char="•"/>
            </a:pPr>
            <a:r>
              <a:rPr lang="en-US" sz="1400" dirty="0">
                <a:solidFill>
                  <a:schemeClr val="tx1"/>
                </a:solidFill>
              </a:rPr>
              <a:t>Mean 21.35 kWh per hour, maximum 136.36 kWh; weekdays average 24.05 vs weekends 14.53 kWh.</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17 features, built only from the past</a:t>
            </a:r>
            <a:endParaRPr lang="en-US" sz="2600" dirty="0"/>
          </a:p>
        </p:txBody>
      </p:sp>
      <p:sp>
        <p:nvSpPr>
          <p:cNvPr id="4" name="Feature group 1"/>
          <p:cNvSpPr/>
          <p:nvPr/>
        </p:nvSpPr>
        <p:spPr>
          <a:xfrm>
            <a:off x="457200" y="1280160"/>
            <a:ext cx="4023360" cy="1143000"/>
          </a:xfrm>
          <a:prstGeom prst="roundRect">
            <a:avLst>
              <a:gd name="adj" fmla="val 8000"/>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5" name="Text 2"/>
          <p:cNvSpPr txBox="1"/>
          <p:nvPr/>
        </p:nvSpPr>
        <p:spPr>
          <a:xfrm>
            <a:off x="640080" y="1389888"/>
            <a:ext cx="3657600" cy="320040"/>
          </a:xfrm>
          <a:prstGeom prst="rect">
            <a:avLst/>
          </a:prstGeom>
          <a:noFill/>
          <a:ln/>
        </p:spPr>
        <p:txBody>
          <a:bodyPr wrap="square" lIns="0" tIns="0" rIns="0" bIns="0" rtlCol="0" anchor="t"/>
          <a:lstStyle/>
          <a:p>
            <a:pPr indent="0" marL="0">
              <a:buNone/>
            </a:pPr>
            <a:r>
              <a:rPr lang="en-US" sz="1600" b="1" dirty="0">
                <a:solidFill>
                  <a:schemeClr val="accent1"/>
                </a:solidFill>
              </a:rPr>
              <a:t>Lags (6)</a:t>
            </a:r>
            <a:endParaRPr lang="en-US" sz="1600" dirty="0"/>
          </a:p>
        </p:txBody>
      </p:sp>
      <p:sp>
        <p:nvSpPr>
          <p:cNvPr id="6" name="Text 3"/>
          <p:cNvSpPr txBox="1"/>
          <p:nvPr/>
        </p:nvSpPr>
        <p:spPr>
          <a:xfrm>
            <a:off x="640080" y="1737360"/>
            <a:ext cx="3657600" cy="640080"/>
          </a:xfrm>
          <a:prstGeom prst="rect">
            <a:avLst/>
          </a:prstGeom>
          <a:noFill/>
          <a:ln/>
        </p:spPr>
        <p:txBody>
          <a:bodyPr wrap="square" lIns="0" tIns="0" rIns="0" bIns="0" rtlCol="0" anchor="t"/>
          <a:lstStyle/>
          <a:p>
            <a:pPr indent="0" marL="0">
              <a:buNone/>
            </a:pPr>
            <a:r>
              <a:rPr lang="en-US" sz="1400" dirty="0">
                <a:solidFill>
                  <a:schemeClr val="tx1"/>
                </a:solidFill>
              </a:rPr>
              <a:t>lag_1, lag_2, lag_24, lag_48, lag_168, lag_336</a:t>
            </a:r>
            <a:endParaRPr lang="en-US" sz="1400" dirty="0"/>
          </a:p>
        </p:txBody>
      </p:sp>
      <p:sp>
        <p:nvSpPr>
          <p:cNvPr id="7" name="Feature group 2"/>
          <p:cNvSpPr/>
          <p:nvPr/>
        </p:nvSpPr>
        <p:spPr>
          <a:xfrm>
            <a:off x="4663440" y="1280160"/>
            <a:ext cx="4023360" cy="1143000"/>
          </a:xfrm>
          <a:prstGeom prst="roundRect">
            <a:avLst>
              <a:gd name="adj" fmla="val 8000"/>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8" name="Text 5"/>
          <p:cNvSpPr txBox="1"/>
          <p:nvPr/>
        </p:nvSpPr>
        <p:spPr>
          <a:xfrm>
            <a:off x="4846320" y="1389888"/>
            <a:ext cx="3657600" cy="320040"/>
          </a:xfrm>
          <a:prstGeom prst="rect">
            <a:avLst/>
          </a:prstGeom>
          <a:noFill/>
          <a:ln/>
        </p:spPr>
        <p:txBody>
          <a:bodyPr wrap="square" lIns="0" tIns="0" rIns="0" bIns="0" rtlCol="0" anchor="t"/>
          <a:lstStyle/>
          <a:p>
            <a:pPr indent="0" marL="0">
              <a:buNone/>
            </a:pPr>
            <a:r>
              <a:rPr lang="en-US" sz="1600" b="1" dirty="0">
                <a:solidFill>
                  <a:schemeClr val="accent1"/>
                </a:solidFill>
              </a:rPr>
              <a:t>Rolling stats (4)</a:t>
            </a:r>
            <a:endParaRPr lang="en-US" sz="1600" dirty="0"/>
          </a:p>
        </p:txBody>
      </p:sp>
      <p:sp>
        <p:nvSpPr>
          <p:cNvPr id="9" name="Text 6"/>
          <p:cNvSpPr txBox="1"/>
          <p:nvPr/>
        </p:nvSpPr>
        <p:spPr>
          <a:xfrm>
            <a:off x="4846320" y="1737360"/>
            <a:ext cx="3657600" cy="640080"/>
          </a:xfrm>
          <a:prstGeom prst="rect">
            <a:avLst/>
          </a:prstGeom>
          <a:noFill/>
          <a:ln/>
        </p:spPr>
        <p:txBody>
          <a:bodyPr wrap="square" lIns="0" tIns="0" rIns="0" bIns="0" rtlCol="0" anchor="t"/>
          <a:lstStyle/>
          <a:p>
            <a:pPr indent="0" marL="0">
              <a:buNone/>
            </a:pPr>
            <a:r>
              <a:rPr lang="en-US" sz="1400" dirty="0">
                <a:solidFill>
                  <a:schemeClr val="tx1"/>
                </a:solidFill>
              </a:rPr>
              <a:t>Mean and std over 24 h and 168 h, shifted by one hour</a:t>
            </a:r>
            <a:endParaRPr lang="en-US" sz="1400" dirty="0"/>
          </a:p>
        </p:txBody>
      </p:sp>
      <p:sp>
        <p:nvSpPr>
          <p:cNvPr id="10" name="Feature group 3"/>
          <p:cNvSpPr/>
          <p:nvPr/>
        </p:nvSpPr>
        <p:spPr>
          <a:xfrm>
            <a:off x="457200" y="2560320"/>
            <a:ext cx="4023360" cy="1143000"/>
          </a:xfrm>
          <a:prstGeom prst="roundRect">
            <a:avLst>
              <a:gd name="adj" fmla="val 8000"/>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11" name="Text 8"/>
          <p:cNvSpPr txBox="1"/>
          <p:nvPr/>
        </p:nvSpPr>
        <p:spPr>
          <a:xfrm>
            <a:off x="640080" y="2670048"/>
            <a:ext cx="3657600" cy="320040"/>
          </a:xfrm>
          <a:prstGeom prst="rect">
            <a:avLst/>
          </a:prstGeom>
          <a:noFill/>
          <a:ln/>
        </p:spPr>
        <p:txBody>
          <a:bodyPr wrap="square" lIns="0" tIns="0" rIns="0" bIns="0" rtlCol="0" anchor="t"/>
          <a:lstStyle/>
          <a:p>
            <a:pPr indent="0" marL="0">
              <a:buNone/>
            </a:pPr>
            <a:r>
              <a:rPr lang="en-US" sz="1600" b="1" dirty="0">
                <a:solidFill>
                  <a:schemeClr val="accent1"/>
                </a:solidFill>
              </a:rPr>
              <a:t>Calendar (5)</a:t>
            </a:r>
            <a:endParaRPr lang="en-US" sz="1600" dirty="0"/>
          </a:p>
        </p:txBody>
      </p:sp>
      <p:sp>
        <p:nvSpPr>
          <p:cNvPr id="12" name="Text 9"/>
          <p:cNvSpPr txBox="1"/>
          <p:nvPr/>
        </p:nvSpPr>
        <p:spPr>
          <a:xfrm>
            <a:off x="640080" y="3017520"/>
            <a:ext cx="3657600" cy="640080"/>
          </a:xfrm>
          <a:prstGeom prst="rect">
            <a:avLst/>
          </a:prstGeom>
          <a:noFill/>
          <a:ln/>
        </p:spPr>
        <p:txBody>
          <a:bodyPr wrap="square" lIns="0" tIns="0" rIns="0" bIns="0" rtlCol="0" anchor="t"/>
          <a:lstStyle/>
          <a:p>
            <a:pPr indent="0" marL="0">
              <a:buNone/>
            </a:pPr>
            <a:r>
              <a:rPr lang="en-US" sz="1400" dirty="0">
                <a:solidFill>
                  <a:schemeClr val="tx1"/>
                </a:solidFill>
              </a:rPr>
              <a:t>hour, day of week, day of month, month, week of year</a:t>
            </a:r>
            <a:endParaRPr lang="en-US" sz="1400" dirty="0"/>
          </a:p>
        </p:txBody>
      </p:sp>
      <p:sp>
        <p:nvSpPr>
          <p:cNvPr id="13" name="Feature group 4"/>
          <p:cNvSpPr/>
          <p:nvPr/>
        </p:nvSpPr>
        <p:spPr>
          <a:xfrm>
            <a:off x="4663440" y="2560320"/>
            <a:ext cx="4023360" cy="1143000"/>
          </a:xfrm>
          <a:prstGeom prst="roundRect">
            <a:avLst>
              <a:gd name="adj" fmla="val 8000"/>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14" name="Text 11"/>
          <p:cNvSpPr txBox="1"/>
          <p:nvPr/>
        </p:nvSpPr>
        <p:spPr>
          <a:xfrm>
            <a:off x="4846320" y="2670048"/>
            <a:ext cx="3657600" cy="320040"/>
          </a:xfrm>
          <a:prstGeom prst="rect">
            <a:avLst/>
          </a:prstGeom>
          <a:noFill/>
          <a:ln/>
        </p:spPr>
        <p:txBody>
          <a:bodyPr wrap="square" lIns="0" tIns="0" rIns="0" bIns="0" rtlCol="0" anchor="t"/>
          <a:lstStyle/>
          <a:p>
            <a:pPr indent="0" marL="0">
              <a:buNone/>
            </a:pPr>
            <a:r>
              <a:rPr lang="en-US" sz="1600" b="1" dirty="0">
                <a:solidFill>
                  <a:schemeClr val="accent1"/>
                </a:solidFill>
              </a:rPr>
              <a:t>Flags (2)</a:t>
            </a:r>
            <a:endParaRPr lang="en-US" sz="1600" dirty="0"/>
          </a:p>
        </p:txBody>
      </p:sp>
      <p:sp>
        <p:nvSpPr>
          <p:cNvPr id="15" name="Text 12"/>
          <p:cNvSpPr txBox="1"/>
          <p:nvPr/>
        </p:nvSpPr>
        <p:spPr>
          <a:xfrm>
            <a:off x="4846320" y="3017520"/>
            <a:ext cx="3657600" cy="640080"/>
          </a:xfrm>
          <a:prstGeom prst="rect">
            <a:avLst/>
          </a:prstGeom>
          <a:noFill/>
          <a:ln/>
        </p:spPr>
        <p:txBody>
          <a:bodyPr wrap="square" lIns="0" tIns="0" rIns="0" bIns="0" rtlCol="0" anchor="t"/>
          <a:lstStyle/>
          <a:p>
            <a:pPr indent="0" marL="0">
              <a:buNone/>
            </a:pPr>
            <a:r>
              <a:rPr lang="en-US" sz="1400" dirty="0">
                <a:solidFill>
                  <a:schemeClr val="tx1"/>
                </a:solidFill>
              </a:rPr>
              <a:t>is_weekend, is_business_hour (08:00 to 18:00)</a:t>
            </a:r>
            <a:endParaRPr lang="en-US" sz="1400" dirty="0"/>
          </a:p>
        </p:txBody>
      </p:sp>
      <p:sp>
        <p:nvSpPr>
          <p:cNvPr id="16" name="Leakage check"/>
          <p:cNvSpPr/>
          <p:nvPr/>
        </p:nvSpPr>
        <p:spPr>
          <a:xfrm>
            <a:off x="457200" y="3931920"/>
            <a:ext cx="8229600" cy="640080"/>
          </a:xfrm>
          <a:prstGeom prst="roundRect">
            <a:avLst>
              <a:gd name="adj" fmla="val 14286"/>
            </a:avLst>
          </a:prstGeom>
          <a:solidFill>
            <a:schemeClr val="accent1"/>
          </a:solidFill>
          <a:ln w="6350">
            <a:solidFill>
              <a:schemeClr val="accent1"/>
            </a:solidFill>
            <a:prstDash val="solid"/>
          </a:ln>
          <a:effectLst>
            <a:outerShdw sx="100000" sy="100000" kx="0" ky="0" algn="bl" rotWithShape="0" blurRad="76200" dist="25400" dir="5400000">
              <a:srgbClr val="111827">
                <a:alpha val="12000"/>
              </a:srgbClr>
            </a:outerShdw>
          </a:effectLst>
        </p:spPr>
      </p:sp>
      <p:sp>
        <p:nvSpPr>
          <p:cNvPr id="17" name="Text 1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b="1" dirty="0">
                <a:solidFill>
                  <a:schemeClr val="bg1"/>
                </a:solidFill>
              </a:rPr>
              <a:t>Leakage check: features rebuilt from history alone matched the stored features (300 random rows).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Chronological split, not random</a:t>
            </a:r>
            <a:endParaRPr lang="en-US" sz="2600" dirty="0"/>
          </a:p>
        </p:txBody>
      </p:sp>
      <p:sp>
        <p:nvSpPr>
          <p:cNvPr id="4" name="Pipeline step 1"/>
          <p:cNvSpPr txBox="1"/>
          <p:nvPr/>
        </p:nvSpPr>
        <p:spPr>
          <a:xfrm>
            <a:off x="457200" y="1280160"/>
            <a:ext cx="1463040" cy="685800"/>
          </a:xfrm>
          <a:prstGeom prst="roundRect">
            <a:avLst>
              <a:gd name="adj" fmla="val 13333"/>
            </a:avLst>
          </a:prstGeom>
          <a:solidFill>
            <a:schemeClr val="accent1"/>
          </a:solidFill>
          <a:ln/>
        </p:spPr>
        <p:txBody>
          <a:bodyPr wrap="square" lIns="0" tIns="0" rIns="0" bIns="0" rtlCol="0" anchor="ctr"/>
          <a:lstStyle/>
          <a:p>
            <a:pPr algn="ctr" indent="0" marL="0">
              <a:buNone/>
            </a:pPr>
            <a:r>
              <a:rPr lang="en-US" sz="1400" b="1" dirty="0">
                <a:solidFill>
                  <a:schemeClr val="bg1"/>
                </a:solidFill>
              </a:rPr>
              <a:t>Sessions</a:t>
            </a:r>
            <a:endParaRPr lang="en-US" sz="1400" dirty="0"/>
          </a:p>
        </p:txBody>
      </p:sp>
      <p:sp>
        <p:nvSpPr>
          <p:cNvPr id="5" name="Shape 2"/>
          <p:cNvSpPr/>
          <p:nvPr/>
        </p:nvSpPr>
        <p:spPr>
          <a:xfrm>
            <a:off x="1938528" y="1623060"/>
            <a:ext cx="192024" cy="0"/>
          </a:xfrm>
          <a:prstGeom prst="line">
            <a:avLst/>
          </a:prstGeom>
          <a:noFill/>
          <a:ln w="25400">
            <a:solidFill>
              <a:schemeClr val="accent1"/>
            </a:solidFill>
            <a:prstDash val="solid"/>
            <a:tailEnd type="triangle"/>
          </a:ln>
        </p:spPr>
      </p:sp>
      <p:sp>
        <p:nvSpPr>
          <p:cNvPr id="6" name="Pipeline step 2"/>
          <p:cNvSpPr txBox="1"/>
          <p:nvPr/>
        </p:nvSpPr>
        <p:spPr>
          <a:xfrm>
            <a:off x="2148840" y="1280160"/>
            <a:ext cx="1463040" cy="685800"/>
          </a:xfrm>
          <a:prstGeom prst="roundRect">
            <a:avLst>
              <a:gd name="adj" fmla="val 13333"/>
            </a:avLst>
          </a:prstGeom>
          <a:solidFill>
            <a:schemeClr val="accent1"/>
          </a:solidFill>
          <a:ln/>
        </p:spPr>
        <p:txBody>
          <a:bodyPr wrap="square" lIns="0" tIns="0" rIns="0" bIns="0" rtlCol="0" anchor="ctr"/>
          <a:lstStyle/>
          <a:p>
            <a:pPr algn="ctr" indent="0" marL="0">
              <a:buNone/>
            </a:pPr>
            <a:r>
              <a:rPr lang="en-US" sz="1400" b="1" dirty="0">
                <a:solidFill>
                  <a:schemeClr val="bg1"/>
                </a:solidFill>
              </a:rPr>
              <a:t>Hourly demand</a:t>
            </a:r>
            <a:endParaRPr lang="en-US" sz="1400" dirty="0"/>
          </a:p>
        </p:txBody>
      </p:sp>
      <p:sp>
        <p:nvSpPr>
          <p:cNvPr id="7" name="Shape 4"/>
          <p:cNvSpPr/>
          <p:nvPr/>
        </p:nvSpPr>
        <p:spPr>
          <a:xfrm>
            <a:off x="3630168" y="1623060"/>
            <a:ext cx="192024" cy="0"/>
          </a:xfrm>
          <a:prstGeom prst="line">
            <a:avLst/>
          </a:prstGeom>
          <a:noFill/>
          <a:ln w="25400">
            <a:solidFill>
              <a:schemeClr val="accent1"/>
            </a:solidFill>
            <a:prstDash val="solid"/>
            <a:tailEnd type="triangle"/>
          </a:ln>
        </p:spPr>
      </p:sp>
      <p:sp>
        <p:nvSpPr>
          <p:cNvPr id="8" name="Pipeline step 3"/>
          <p:cNvSpPr txBox="1"/>
          <p:nvPr/>
        </p:nvSpPr>
        <p:spPr>
          <a:xfrm>
            <a:off x="3840480" y="1280160"/>
            <a:ext cx="1463040" cy="685800"/>
          </a:xfrm>
          <a:prstGeom prst="roundRect">
            <a:avLst>
              <a:gd name="adj" fmla="val 13333"/>
            </a:avLst>
          </a:prstGeom>
          <a:solidFill>
            <a:schemeClr val="accent1"/>
          </a:solidFill>
          <a:ln/>
        </p:spPr>
        <p:txBody>
          <a:bodyPr wrap="square" lIns="0" tIns="0" rIns="0" bIns="0" rtlCol="0" anchor="ctr"/>
          <a:lstStyle/>
          <a:p>
            <a:pPr algn="ctr" indent="0" marL="0">
              <a:buNone/>
            </a:pPr>
            <a:r>
              <a:rPr lang="en-US" sz="1400" b="1" dirty="0">
                <a:solidFill>
                  <a:schemeClr val="bg1"/>
                </a:solidFill>
              </a:rPr>
              <a:t>17 features</a:t>
            </a:r>
            <a:endParaRPr lang="en-US" sz="1400" dirty="0"/>
          </a:p>
        </p:txBody>
      </p:sp>
      <p:sp>
        <p:nvSpPr>
          <p:cNvPr id="9" name="Shape 6"/>
          <p:cNvSpPr/>
          <p:nvPr/>
        </p:nvSpPr>
        <p:spPr>
          <a:xfrm>
            <a:off x="5321808" y="1623060"/>
            <a:ext cx="192024" cy="0"/>
          </a:xfrm>
          <a:prstGeom prst="line">
            <a:avLst/>
          </a:prstGeom>
          <a:noFill/>
          <a:ln w="25400">
            <a:solidFill>
              <a:schemeClr val="accent1"/>
            </a:solidFill>
            <a:prstDash val="solid"/>
            <a:tailEnd type="triangle"/>
          </a:ln>
        </p:spPr>
      </p:sp>
      <p:sp>
        <p:nvSpPr>
          <p:cNvPr id="10" name="Pipeline step 4"/>
          <p:cNvSpPr txBox="1"/>
          <p:nvPr/>
        </p:nvSpPr>
        <p:spPr>
          <a:xfrm>
            <a:off x="5532120" y="1280160"/>
            <a:ext cx="1463040" cy="685800"/>
          </a:xfrm>
          <a:prstGeom prst="roundRect">
            <a:avLst>
              <a:gd name="adj" fmla="val 13333"/>
            </a:avLst>
          </a:prstGeom>
          <a:solidFill>
            <a:schemeClr val="accent1"/>
          </a:solidFill>
          <a:ln/>
        </p:spPr>
        <p:txBody>
          <a:bodyPr wrap="square" lIns="0" tIns="0" rIns="0" bIns="0" rtlCol="0" anchor="ctr"/>
          <a:lstStyle/>
          <a:p>
            <a:pPr algn="ctr" indent="0" marL="0">
              <a:buNone/>
            </a:pPr>
            <a:r>
              <a:rPr lang="en-US" sz="1400" b="1" dirty="0">
                <a:solidFill>
                  <a:schemeClr val="bg1"/>
                </a:solidFill>
              </a:rPr>
              <a:t>Models</a:t>
            </a:r>
            <a:endParaRPr lang="en-US" sz="1400" dirty="0"/>
          </a:p>
        </p:txBody>
      </p:sp>
      <p:sp>
        <p:nvSpPr>
          <p:cNvPr id="11" name="Shape 8"/>
          <p:cNvSpPr/>
          <p:nvPr/>
        </p:nvSpPr>
        <p:spPr>
          <a:xfrm>
            <a:off x="7013448" y="1623060"/>
            <a:ext cx="192024" cy="0"/>
          </a:xfrm>
          <a:prstGeom prst="line">
            <a:avLst/>
          </a:prstGeom>
          <a:noFill/>
          <a:ln w="25400">
            <a:solidFill>
              <a:schemeClr val="accent1"/>
            </a:solidFill>
            <a:prstDash val="solid"/>
            <a:tailEnd type="triangle"/>
          </a:ln>
        </p:spPr>
      </p:sp>
      <p:sp>
        <p:nvSpPr>
          <p:cNvPr id="12" name="Pipeline step 5"/>
          <p:cNvSpPr txBox="1"/>
          <p:nvPr/>
        </p:nvSpPr>
        <p:spPr>
          <a:xfrm>
            <a:off x="7223760" y="1280160"/>
            <a:ext cx="1463040" cy="685800"/>
          </a:xfrm>
          <a:prstGeom prst="roundRect">
            <a:avLst>
              <a:gd name="adj" fmla="val 13333"/>
            </a:avLst>
          </a:prstGeom>
          <a:solidFill>
            <a:schemeClr val="accent1"/>
          </a:solidFill>
          <a:ln/>
        </p:spPr>
        <p:txBody>
          <a:bodyPr wrap="square" lIns="0" tIns="0" rIns="0" bIns="0" rtlCol="0" anchor="ctr"/>
          <a:lstStyle/>
          <a:p>
            <a:pPr algn="ctr" indent="0" marL="0">
              <a:buNone/>
            </a:pPr>
            <a:r>
              <a:rPr lang="en-US" sz="1400" b="1" dirty="0">
                <a:solidFill>
                  <a:schemeClr val="bg1"/>
                </a:solidFill>
              </a:rPr>
              <a:t>24-hour forecast</a:t>
            </a:r>
            <a:endParaRPr lang="en-US" sz="1400" dirty="0"/>
          </a:p>
        </p:txBody>
      </p:sp>
      <p:sp>
        <p:nvSpPr>
          <p:cNvPr id="13" name="Text 10"/>
          <p:cNvSpPr txBox="1"/>
          <p:nvPr/>
        </p:nvSpPr>
        <p:spPr>
          <a:xfrm>
            <a:off x="457200" y="2286000"/>
            <a:ext cx="8229600" cy="274320"/>
          </a:xfrm>
          <a:prstGeom prst="rect">
            <a:avLst/>
          </a:prstGeom>
          <a:noFill/>
          <a:ln/>
        </p:spPr>
        <p:txBody>
          <a:bodyPr wrap="square" lIns="0" tIns="0" rIns="0" bIns="0" rtlCol="0" anchor="t"/>
          <a:lstStyle/>
          <a:p>
            <a:pPr indent="0" marL="0">
              <a:buNone/>
            </a:pPr>
            <a:r>
              <a:rPr lang="en-US" sz="1400" b="1" dirty="0">
                <a:solidFill>
                  <a:schemeClr val="tx1"/>
                </a:solidFill>
              </a:rPr>
              <a:t>Time order: oldest on the left, newest on the right</a:t>
            </a:r>
            <a:endParaRPr lang="en-US" sz="1400" dirty="0"/>
          </a:p>
        </p:txBody>
      </p:sp>
      <p:sp>
        <p:nvSpPr>
          <p:cNvPr id="14" name="Split Train"/>
          <p:cNvSpPr txBox="1"/>
          <p:nvPr/>
        </p:nvSpPr>
        <p:spPr>
          <a:xfrm>
            <a:off x="457200" y="2651760"/>
            <a:ext cx="5760720" cy="777240"/>
          </a:xfrm>
          <a:prstGeom prst="rect">
            <a:avLst/>
          </a:prstGeom>
          <a:solidFill>
            <a:schemeClr val="accent1"/>
          </a:solidFill>
          <a:ln/>
        </p:spPr>
        <p:txBody>
          <a:bodyPr wrap="square" lIns="0" tIns="0" rIns="0" bIns="0" rtlCol="0" anchor="ctr"/>
          <a:lstStyle/>
          <a:p>
            <a:pPr algn="ctr" indent="0" marL="0">
              <a:buNone/>
            </a:pPr>
            <a:r>
              <a:rPr lang="en-US" sz="1300" b="1" dirty="0">
                <a:solidFill>
                  <a:schemeClr val="bg1"/>
                </a:solidFill>
              </a:rPr>
              <a:t>Train</a:t>
            </a:r>
            <a:endParaRPr lang="en-US" sz="1300" dirty="0"/>
          </a:p>
          <a:p>
            <a:pPr algn="ctr" indent="0" marL="0">
              <a:buNone/>
            </a:pPr>
            <a:r>
              <a:rPr lang="en-US" sz="1300" dirty="0">
                <a:solidFill>
                  <a:schemeClr val="bg1"/>
                </a:solidFill>
              </a:rPr>
              <a:t>5,101 rows (70%)</a:t>
            </a:r>
            <a:endParaRPr lang="en-US" sz="1300" dirty="0"/>
          </a:p>
        </p:txBody>
      </p:sp>
      <p:sp>
        <p:nvSpPr>
          <p:cNvPr id="15" name="Split Valid."/>
          <p:cNvSpPr txBox="1"/>
          <p:nvPr/>
        </p:nvSpPr>
        <p:spPr>
          <a:xfrm>
            <a:off x="6217920" y="2651760"/>
            <a:ext cx="1234440" cy="777240"/>
          </a:xfrm>
          <a:prstGeom prst="rect">
            <a:avLst/>
          </a:prstGeom>
          <a:solidFill>
            <a:schemeClr val="accent4"/>
          </a:solidFill>
          <a:ln/>
        </p:spPr>
        <p:txBody>
          <a:bodyPr wrap="square" lIns="0" tIns="0" rIns="0" bIns="0" rtlCol="0" anchor="ctr"/>
          <a:lstStyle/>
          <a:p>
            <a:pPr algn="ctr" indent="0" marL="0">
              <a:buNone/>
            </a:pPr>
            <a:r>
              <a:rPr lang="en-US" sz="1300" b="1" dirty="0">
                <a:solidFill>
                  <a:schemeClr val="bg1"/>
                </a:solidFill>
              </a:rPr>
              <a:t>Valid.</a:t>
            </a:r>
            <a:endParaRPr lang="en-US" sz="1300" dirty="0"/>
          </a:p>
          <a:p>
            <a:pPr algn="ctr" indent="0" marL="0">
              <a:buNone/>
            </a:pPr>
            <a:r>
              <a:rPr lang="en-US" sz="1300" dirty="0">
                <a:solidFill>
                  <a:schemeClr val="bg1"/>
                </a:solidFill>
              </a:rPr>
              <a:t>1,093 (15%)</a:t>
            </a:r>
            <a:endParaRPr lang="en-US" sz="1300" dirty="0"/>
          </a:p>
        </p:txBody>
      </p:sp>
      <p:sp>
        <p:nvSpPr>
          <p:cNvPr id="16" name="Split Test"/>
          <p:cNvSpPr txBox="1"/>
          <p:nvPr/>
        </p:nvSpPr>
        <p:spPr>
          <a:xfrm>
            <a:off x="7452360" y="2651760"/>
            <a:ext cx="1234440" cy="777240"/>
          </a:xfrm>
          <a:prstGeom prst="rect">
            <a:avLst/>
          </a:prstGeom>
          <a:solidFill>
            <a:schemeClr val="accent2"/>
          </a:solidFill>
          <a:ln/>
        </p:spPr>
        <p:txBody>
          <a:bodyPr wrap="square" lIns="0" tIns="0" rIns="0" bIns="0" rtlCol="0" anchor="ctr"/>
          <a:lstStyle/>
          <a:p>
            <a:pPr algn="ctr" indent="0" marL="0">
              <a:buNone/>
            </a:pPr>
            <a:r>
              <a:rPr lang="en-US" sz="1300" b="1" dirty="0">
                <a:solidFill>
                  <a:schemeClr val="bg1"/>
                </a:solidFill>
              </a:rPr>
              <a:t>Test</a:t>
            </a:r>
            <a:endParaRPr lang="en-US" sz="1300" dirty="0"/>
          </a:p>
          <a:p>
            <a:pPr algn="ctr" indent="0" marL="0">
              <a:buNone/>
            </a:pPr>
            <a:r>
              <a:rPr lang="en-US" sz="1300" dirty="0">
                <a:solidFill>
                  <a:schemeClr val="bg1"/>
                </a:solidFill>
              </a:rPr>
              <a:t>1,094 (15%)</a:t>
            </a:r>
            <a:endParaRPr lang="en-US" sz="1300" dirty="0"/>
          </a:p>
        </p:txBody>
      </p:sp>
      <p:sp>
        <p:nvSpPr>
          <p:cNvPr id="17" name="Text 14"/>
          <p:cNvSpPr txBox="1"/>
          <p:nvPr/>
        </p:nvSpPr>
        <p:spPr>
          <a:xfrm>
            <a:off x="457200" y="3611880"/>
            <a:ext cx="8229600" cy="274320"/>
          </a:xfrm>
          <a:prstGeom prst="rect">
            <a:avLst/>
          </a:prstGeom>
          <a:noFill/>
          <a:ln/>
        </p:spPr>
        <p:txBody>
          <a:bodyPr wrap="square" lIns="0" tIns="0" rIns="0" bIns="0" rtlCol="0" anchor="t"/>
          <a:lstStyle/>
          <a:p>
            <a:pPr indent="0" marL="0">
              <a:buNone/>
            </a:pPr>
            <a:r>
              <a:rPr lang="en-US" sz="1400" dirty="0">
                <a:solidFill>
                  <a:schemeClr val="tx1"/>
                </a:solidFill>
              </a:rPr>
              <a:t>Train: fit models.   Validation: choose settings and calibrate intervals.   Test: final evaluation only.</a:t>
            </a:r>
            <a:endParaRPr lang="en-US" sz="1400" dirty="0"/>
          </a:p>
        </p:txBody>
      </p:sp>
      <p:sp>
        <p:nvSpPr>
          <p:cNvPr id="18" name="Dates"/>
          <p:cNvSpPr/>
          <p:nvPr/>
        </p:nvSpPr>
        <p:spPr>
          <a:xfrm>
            <a:off x="457200" y="4023360"/>
            <a:ext cx="8229600" cy="548640"/>
          </a:xfrm>
          <a:prstGeom prst="roundRect">
            <a:avLst>
              <a:gd name="adj" fmla="val 16667"/>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19" name="Text 16"/>
          <p:cNvSpPr txBox="1"/>
          <p:nvPr/>
        </p:nvSpPr>
        <p:spPr>
          <a:xfrm>
            <a:off x="640080" y="4069080"/>
            <a:ext cx="7863840" cy="457200"/>
          </a:xfrm>
          <a:prstGeom prst="rect">
            <a:avLst/>
          </a:prstGeom>
          <a:noFill/>
          <a:ln/>
        </p:spPr>
        <p:txBody>
          <a:bodyPr wrap="square" lIns="0" tIns="0" rIns="0" bIns="0" rtlCol="0" anchor="ctr"/>
          <a:lstStyle/>
          <a:p>
            <a:pPr indent="0" marL="0">
              <a:buNone/>
            </a:pPr>
            <a:r>
              <a:rPr lang="en-US" sz="1300" dirty="0">
                <a:solidFill>
                  <a:schemeClr val="tx1"/>
                </a:solidFill>
              </a:rPr>
              <a:t>Train to 23 Nov 2018  |  Validation 24 Nov 2018 to 8 Jan 2019  |  Test 8 Jan to 22 Feb 2019 (45 windows, 1,080 h)</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Recursive 24-hour forecasting</a:t>
            </a:r>
            <a:endParaRPr lang="en-US" sz="2600" dirty="0"/>
          </a:p>
        </p:txBody>
      </p:sp>
      <p:sp>
        <p:nvSpPr>
          <p:cNvPr id="4" name="Recursion step 1"/>
          <p:cNvSpPr/>
          <p:nvPr/>
        </p:nvSpPr>
        <p:spPr>
          <a:xfrm>
            <a:off x="457200" y="1325880"/>
            <a:ext cx="1920240" cy="1737360"/>
          </a:xfrm>
          <a:prstGeom prst="roundRect">
            <a:avLst>
              <a:gd name="adj" fmla="val 5263"/>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5" name="Step 1"/>
          <p:cNvSpPr txBox="1"/>
          <p:nvPr/>
        </p:nvSpPr>
        <p:spPr>
          <a:xfrm>
            <a:off x="594360" y="146304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594360" y="1965960"/>
            <a:ext cx="1691640" cy="411480"/>
          </a:xfrm>
          <a:prstGeom prst="rect">
            <a:avLst/>
          </a:prstGeom>
          <a:noFill/>
          <a:ln/>
        </p:spPr>
        <p:txBody>
          <a:bodyPr wrap="square" lIns="0" tIns="0" rIns="0" bIns="0" rtlCol="0" anchor="t"/>
          <a:lstStyle/>
          <a:p>
            <a:pPr indent="0" marL="0">
              <a:buNone/>
            </a:pPr>
            <a:r>
              <a:rPr lang="en-US" sz="1500" b="1" dirty="0">
                <a:solidFill>
                  <a:schemeClr val="tx1"/>
                </a:solidFill>
              </a:rPr>
              <a:t>Known history</a:t>
            </a:r>
            <a:endParaRPr lang="en-US" sz="1500" dirty="0"/>
          </a:p>
        </p:txBody>
      </p:sp>
      <p:sp>
        <p:nvSpPr>
          <p:cNvPr id="7" name="Text 4"/>
          <p:cNvSpPr txBox="1"/>
          <p:nvPr/>
        </p:nvSpPr>
        <p:spPr>
          <a:xfrm>
            <a:off x="594360" y="2423160"/>
            <a:ext cx="1691640" cy="594360"/>
          </a:xfrm>
          <a:prstGeom prst="rect">
            <a:avLst/>
          </a:prstGeom>
          <a:noFill/>
          <a:ln/>
        </p:spPr>
        <p:txBody>
          <a:bodyPr wrap="square" lIns="0" tIns="0" rIns="0" bIns="0" rtlCol="0" anchor="t"/>
          <a:lstStyle/>
          <a:p>
            <a:pPr indent="0" marL="0">
              <a:buNone/>
            </a:pPr>
            <a:r>
              <a:rPr lang="en-US" sz="1400" dirty="0">
                <a:solidFill>
                  <a:schemeClr val="tx1"/>
                </a:solidFill>
              </a:rPr>
              <a:t>Demand up to the forecast start</a:t>
            </a:r>
            <a:endParaRPr lang="en-US" sz="1400" dirty="0"/>
          </a:p>
        </p:txBody>
      </p:sp>
      <p:sp>
        <p:nvSpPr>
          <p:cNvPr id="8" name="Shape 5"/>
          <p:cNvSpPr/>
          <p:nvPr/>
        </p:nvSpPr>
        <p:spPr>
          <a:xfrm>
            <a:off x="2377440" y="2194560"/>
            <a:ext cx="182880" cy="0"/>
          </a:xfrm>
          <a:prstGeom prst="line">
            <a:avLst/>
          </a:prstGeom>
          <a:noFill/>
          <a:ln w="25400">
            <a:solidFill>
              <a:schemeClr val="accent1"/>
            </a:solidFill>
            <a:prstDash val="solid"/>
            <a:tailEnd type="triangle"/>
          </a:ln>
        </p:spPr>
      </p:sp>
      <p:sp>
        <p:nvSpPr>
          <p:cNvPr id="9" name="Recursion step 2"/>
          <p:cNvSpPr/>
          <p:nvPr/>
        </p:nvSpPr>
        <p:spPr>
          <a:xfrm>
            <a:off x="2560320" y="1325880"/>
            <a:ext cx="1920240" cy="1737360"/>
          </a:xfrm>
          <a:prstGeom prst="roundRect">
            <a:avLst>
              <a:gd name="adj" fmla="val 5263"/>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10" name="Step 2"/>
          <p:cNvSpPr txBox="1"/>
          <p:nvPr/>
        </p:nvSpPr>
        <p:spPr>
          <a:xfrm>
            <a:off x="2697480" y="146304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2697480" y="1965960"/>
            <a:ext cx="1691640" cy="411480"/>
          </a:xfrm>
          <a:prstGeom prst="rect">
            <a:avLst/>
          </a:prstGeom>
          <a:noFill/>
          <a:ln/>
        </p:spPr>
        <p:txBody>
          <a:bodyPr wrap="square" lIns="0" tIns="0" rIns="0" bIns="0" rtlCol="0" anchor="t"/>
          <a:lstStyle/>
          <a:p>
            <a:pPr indent="0" marL="0">
              <a:buNone/>
            </a:pPr>
            <a:r>
              <a:rPr lang="en-US" sz="1500" b="1" dirty="0">
                <a:solidFill>
                  <a:schemeClr val="tx1"/>
                </a:solidFill>
              </a:rPr>
              <a:t>Predict hour 1</a:t>
            </a:r>
            <a:endParaRPr lang="en-US" sz="1500" dirty="0"/>
          </a:p>
        </p:txBody>
      </p:sp>
      <p:sp>
        <p:nvSpPr>
          <p:cNvPr id="12" name="Text 9"/>
          <p:cNvSpPr txBox="1"/>
          <p:nvPr/>
        </p:nvSpPr>
        <p:spPr>
          <a:xfrm>
            <a:off x="2697480" y="2423160"/>
            <a:ext cx="1691640" cy="594360"/>
          </a:xfrm>
          <a:prstGeom prst="rect">
            <a:avLst/>
          </a:prstGeom>
          <a:noFill/>
          <a:ln/>
        </p:spPr>
        <p:txBody>
          <a:bodyPr wrap="square" lIns="0" tIns="0" rIns="0" bIns="0" rtlCol="0" anchor="t"/>
          <a:lstStyle/>
          <a:p>
            <a:pPr indent="0" marL="0">
              <a:buNone/>
            </a:pPr>
            <a:r>
              <a:rPr lang="en-US" sz="1400" dirty="0">
                <a:solidFill>
                  <a:schemeClr val="tx1"/>
                </a:solidFill>
              </a:rPr>
              <a:t>Features built from the history</a:t>
            </a:r>
            <a:endParaRPr lang="en-US" sz="1400" dirty="0"/>
          </a:p>
        </p:txBody>
      </p:sp>
      <p:sp>
        <p:nvSpPr>
          <p:cNvPr id="13" name="Shape 10"/>
          <p:cNvSpPr/>
          <p:nvPr/>
        </p:nvSpPr>
        <p:spPr>
          <a:xfrm>
            <a:off x="4480560" y="2194560"/>
            <a:ext cx="182880" cy="0"/>
          </a:xfrm>
          <a:prstGeom prst="line">
            <a:avLst/>
          </a:prstGeom>
          <a:noFill/>
          <a:ln w="25400">
            <a:solidFill>
              <a:schemeClr val="accent1"/>
            </a:solidFill>
            <a:prstDash val="solid"/>
            <a:tailEnd type="triangle"/>
          </a:ln>
        </p:spPr>
      </p:sp>
      <p:sp>
        <p:nvSpPr>
          <p:cNvPr id="14" name="Recursion step 3"/>
          <p:cNvSpPr/>
          <p:nvPr/>
        </p:nvSpPr>
        <p:spPr>
          <a:xfrm>
            <a:off x="4663440" y="1325880"/>
            <a:ext cx="1920240" cy="1737360"/>
          </a:xfrm>
          <a:prstGeom prst="roundRect">
            <a:avLst>
              <a:gd name="adj" fmla="val 5263"/>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15" name="Step 3"/>
          <p:cNvSpPr txBox="1"/>
          <p:nvPr/>
        </p:nvSpPr>
        <p:spPr>
          <a:xfrm>
            <a:off x="4800600" y="146304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3"/>
          <p:cNvSpPr txBox="1"/>
          <p:nvPr/>
        </p:nvSpPr>
        <p:spPr>
          <a:xfrm>
            <a:off x="4800600" y="1965960"/>
            <a:ext cx="1691640" cy="411480"/>
          </a:xfrm>
          <a:prstGeom prst="rect">
            <a:avLst/>
          </a:prstGeom>
          <a:noFill/>
          <a:ln/>
        </p:spPr>
        <p:txBody>
          <a:bodyPr wrap="square" lIns="0" tIns="0" rIns="0" bIns="0" rtlCol="0" anchor="t"/>
          <a:lstStyle/>
          <a:p>
            <a:pPr indent="0" marL="0">
              <a:buNone/>
            </a:pPr>
            <a:r>
              <a:rPr lang="en-US" sz="1500" b="1" dirty="0">
                <a:solidFill>
                  <a:schemeClr val="tx1"/>
                </a:solidFill>
              </a:rPr>
              <a:t>Append prediction</a:t>
            </a:r>
            <a:endParaRPr lang="en-US" sz="1500" dirty="0"/>
          </a:p>
        </p:txBody>
      </p:sp>
      <p:sp>
        <p:nvSpPr>
          <p:cNvPr id="17" name="Text 14"/>
          <p:cNvSpPr txBox="1"/>
          <p:nvPr/>
        </p:nvSpPr>
        <p:spPr>
          <a:xfrm>
            <a:off x="4800600" y="2423160"/>
            <a:ext cx="1691640" cy="594360"/>
          </a:xfrm>
          <a:prstGeom prst="rect">
            <a:avLst/>
          </a:prstGeom>
          <a:noFill/>
          <a:ln/>
        </p:spPr>
        <p:txBody>
          <a:bodyPr wrap="square" lIns="0" tIns="0" rIns="0" bIns="0" rtlCol="0" anchor="t"/>
          <a:lstStyle/>
          <a:p>
            <a:pPr indent="0" marL="0">
              <a:buNone/>
            </a:pPr>
            <a:r>
              <a:rPr lang="en-US" sz="1400" dirty="0">
                <a:solidFill>
                  <a:schemeClr val="tx1"/>
                </a:solidFill>
              </a:rPr>
              <a:t>Hour 1 joins the history</a:t>
            </a:r>
            <a:endParaRPr lang="en-US" sz="1400" dirty="0"/>
          </a:p>
        </p:txBody>
      </p:sp>
      <p:sp>
        <p:nvSpPr>
          <p:cNvPr id="18" name="Shape 15"/>
          <p:cNvSpPr/>
          <p:nvPr/>
        </p:nvSpPr>
        <p:spPr>
          <a:xfrm>
            <a:off x="6583680" y="2194560"/>
            <a:ext cx="182880" cy="0"/>
          </a:xfrm>
          <a:prstGeom prst="line">
            <a:avLst/>
          </a:prstGeom>
          <a:noFill/>
          <a:ln w="25400">
            <a:solidFill>
              <a:schemeClr val="accent1"/>
            </a:solidFill>
            <a:prstDash val="solid"/>
            <a:tailEnd type="triangle"/>
          </a:ln>
        </p:spPr>
      </p:sp>
      <p:sp>
        <p:nvSpPr>
          <p:cNvPr id="19" name="Recursion step 4"/>
          <p:cNvSpPr/>
          <p:nvPr/>
        </p:nvSpPr>
        <p:spPr>
          <a:xfrm>
            <a:off x="6766560" y="1325880"/>
            <a:ext cx="1920240" cy="1737360"/>
          </a:xfrm>
          <a:prstGeom prst="roundRect">
            <a:avLst>
              <a:gd name="adj" fmla="val 5263"/>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20" name="Step 4"/>
          <p:cNvSpPr txBox="1"/>
          <p:nvPr/>
        </p:nvSpPr>
        <p:spPr>
          <a:xfrm>
            <a:off x="6903720" y="146304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8"/>
          <p:cNvSpPr txBox="1"/>
          <p:nvPr/>
        </p:nvSpPr>
        <p:spPr>
          <a:xfrm>
            <a:off x="6903720" y="1965960"/>
            <a:ext cx="1691640" cy="411480"/>
          </a:xfrm>
          <a:prstGeom prst="rect">
            <a:avLst/>
          </a:prstGeom>
          <a:noFill/>
          <a:ln/>
        </p:spPr>
        <p:txBody>
          <a:bodyPr wrap="square" lIns="0" tIns="0" rIns="0" bIns="0" rtlCol="0" anchor="t"/>
          <a:lstStyle/>
          <a:p>
            <a:pPr indent="0" marL="0">
              <a:buNone/>
            </a:pPr>
            <a:r>
              <a:rPr lang="en-US" sz="1500" b="1" dirty="0">
                <a:solidFill>
                  <a:schemeClr val="tx1"/>
                </a:solidFill>
              </a:rPr>
              <a:t>Predict hour 2 ... 24</a:t>
            </a:r>
            <a:endParaRPr lang="en-US" sz="1500" dirty="0"/>
          </a:p>
        </p:txBody>
      </p:sp>
      <p:sp>
        <p:nvSpPr>
          <p:cNvPr id="22" name="Text 19"/>
          <p:cNvSpPr txBox="1"/>
          <p:nvPr/>
        </p:nvSpPr>
        <p:spPr>
          <a:xfrm>
            <a:off x="6903720" y="2423160"/>
            <a:ext cx="1691640" cy="594360"/>
          </a:xfrm>
          <a:prstGeom prst="rect">
            <a:avLst/>
          </a:prstGeom>
          <a:noFill/>
          <a:ln/>
        </p:spPr>
        <p:txBody>
          <a:bodyPr wrap="square" lIns="0" tIns="0" rIns="0" bIns="0" rtlCol="0" anchor="t"/>
          <a:lstStyle/>
          <a:p>
            <a:pPr indent="0" marL="0">
              <a:buNone/>
            </a:pPr>
            <a:r>
              <a:rPr lang="en-US" sz="1400" dirty="0">
                <a:solidFill>
                  <a:schemeClr val="tx1"/>
                </a:solidFill>
              </a:rPr>
              <a:t>Repeat for all 24 hours</a:t>
            </a:r>
            <a:endParaRPr lang="en-US" sz="1400" dirty="0"/>
          </a:p>
        </p:txBody>
      </p:sp>
      <p:sp>
        <p:nvSpPr>
          <p:cNvPr id="23" name="Rule"/>
          <p:cNvSpPr/>
          <p:nvPr/>
        </p:nvSpPr>
        <p:spPr>
          <a:xfrm>
            <a:off x="457200" y="3337560"/>
            <a:ext cx="4023360" cy="1188720"/>
          </a:xfrm>
          <a:prstGeom prst="roundRect">
            <a:avLst>
              <a:gd name="adj" fmla="val 7692"/>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24" name="Text 21"/>
          <p:cNvSpPr txBox="1"/>
          <p:nvPr/>
        </p:nvSpPr>
        <p:spPr>
          <a:xfrm>
            <a:off x="640080" y="3429000"/>
            <a:ext cx="3657600" cy="274320"/>
          </a:xfrm>
          <a:prstGeom prst="rect">
            <a:avLst/>
          </a:prstGeom>
          <a:noFill/>
          <a:ln/>
        </p:spPr>
        <p:txBody>
          <a:bodyPr wrap="square" lIns="0" tIns="0" rIns="0" bIns="0" rtlCol="0" anchor="t"/>
          <a:lstStyle/>
          <a:p>
            <a:pPr indent="0" marL="0">
              <a:buNone/>
            </a:pPr>
            <a:r>
              <a:rPr lang="en-US" sz="1400" b="1" dirty="0">
                <a:solidFill>
                  <a:schemeClr val="accent1"/>
                </a:solidFill>
              </a:rPr>
              <a:t>Rule</a:t>
            </a:r>
            <a:endParaRPr lang="en-US" sz="1400" dirty="0"/>
          </a:p>
        </p:txBody>
      </p:sp>
      <p:sp>
        <p:nvSpPr>
          <p:cNvPr id="25" name="Text 22"/>
          <p:cNvSpPr txBox="1"/>
          <p:nvPr/>
        </p:nvSpPr>
        <p:spPr>
          <a:xfrm>
            <a:off x="640080" y="3730752"/>
            <a:ext cx="3657600" cy="777240"/>
          </a:xfrm>
          <a:prstGeom prst="rect">
            <a:avLst/>
          </a:prstGeom>
          <a:noFill/>
          <a:ln/>
        </p:spPr>
        <p:txBody>
          <a:bodyPr wrap="square" lIns="0" tIns="0" rIns="0" bIns="0" rtlCol="0" anchor="t"/>
          <a:lstStyle/>
          <a:p>
            <a:pPr indent="0" marL="0">
              <a:buNone/>
            </a:pPr>
            <a:r>
              <a:rPr lang="en-US" sz="1400" dirty="0">
                <a:solidFill>
                  <a:schemeClr val="tx1"/>
                </a:solidFill>
              </a:rPr>
              <a:t>Only the model's own predictions are fed back; actual values in the window are never used.</a:t>
            </a:r>
            <a:endParaRPr lang="en-US" sz="1400" dirty="0"/>
          </a:p>
        </p:txBody>
      </p:sp>
      <p:sp>
        <p:nvSpPr>
          <p:cNvPr id="26" name="Trade-off"/>
          <p:cNvSpPr/>
          <p:nvPr/>
        </p:nvSpPr>
        <p:spPr>
          <a:xfrm>
            <a:off x="4663440" y="3337560"/>
            <a:ext cx="4023360" cy="1188720"/>
          </a:xfrm>
          <a:prstGeom prst="roundRect">
            <a:avLst>
              <a:gd name="adj" fmla="val 7692"/>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27" name="Text 24"/>
          <p:cNvSpPr txBox="1"/>
          <p:nvPr/>
        </p:nvSpPr>
        <p:spPr>
          <a:xfrm>
            <a:off x="4846320" y="3429000"/>
            <a:ext cx="3657600" cy="274320"/>
          </a:xfrm>
          <a:prstGeom prst="rect">
            <a:avLst/>
          </a:prstGeom>
          <a:noFill/>
          <a:ln/>
        </p:spPr>
        <p:txBody>
          <a:bodyPr wrap="square" lIns="0" tIns="0" rIns="0" bIns="0" rtlCol="0" anchor="t"/>
          <a:lstStyle/>
          <a:p>
            <a:pPr indent="0" marL="0">
              <a:buNone/>
            </a:pPr>
            <a:r>
              <a:rPr lang="en-US" sz="1400" b="1" dirty="0">
                <a:solidFill>
                  <a:schemeClr val="accent2"/>
                </a:solidFill>
              </a:rPr>
              <a:t>Trade-off</a:t>
            </a:r>
            <a:endParaRPr lang="en-US" sz="1400" dirty="0"/>
          </a:p>
        </p:txBody>
      </p:sp>
      <p:sp>
        <p:nvSpPr>
          <p:cNvPr id="28" name="Text 25"/>
          <p:cNvSpPr txBox="1"/>
          <p:nvPr/>
        </p:nvSpPr>
        <p:spPr>
          <a:xfrm>
            <a:off x="4846320" y="3730752"/>
            <a:ext cx="3657600" cy="777240"/>
          </a:xfrm>
          <a:prstGeom prst="rect">
            <a:avLst/>
          </a:prstGeom>
          <a:noFill/>
          <a:ln/>
        </p:spPr>
        <p:txBody>
          <a:bodyPr wrap="square" lIns="0" tIns="0" rIns="0" bIns="0" rtlCol="0" anchor="t"/>
          <a:lstStyle/>
          <a:p>
            <a:pPr indent="0" marL="0">
              <a:buNone/>
            </a:pPr>
            <a:r>
              <a:rPr lang="en-US" sz="1400" dirty="0">
                <a:solidFill>
                  <a:schemeClr val="tx1"/>
                </a:solidFill>
              </a:rPr>
              <a:t>Errors can accumulate over 24 steps; predictions are clipped at 0 kWh.</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Five forecasting approaches compared</a:t>
            </a:r>
            <a:endParaRPr lang="en-US" sz="2600" dirty="0"/>
          </a:p>
        </p:txBody>
      </p:sp>
      <p:sp>
        <p:nvSpPr>
          <p:cNvPr id="4" name="Model card 1"/>
          <p:cNvSpPr/>
          <p:nvPr/>
        </p:nvSpPr>
        <p:spPr>
          <a:xfrm>
            <a:off x="457200" y="1325880"/>
            <a:ext cx="1554480" cy="2286000"/>
          </a:xfrm>
          <a:prstGeom prst="roundRect">
            <a:avLst>
              <a:gd name="adj" fmla="val 5882"/>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5" name="Step 1"/>
          <p:cNvSpPr txBox="1"/>
          <p:nvPr/>
        </p:nvSpPr>
        <p:spPr>
          <a:xfrm>
            <a:off x="594360" y="1463040"/>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594360" y="1965960"/>
            <a:ext cx="1325880" cy="594360"/>
          </a:xfrm>
          <a:prstGeom prst="rect">
            <a:avLst/>
          </a:prstGeom>
          <a:noFill/>
          <a:ln/>
        </p:spPr>
        <p:txBody>
          <a:bodyPr wrap="square" lIns="0" tIns="0" rIns="0" bIns="0" rtlCol="0" anchor="t"/>
          <a:lstStyle/>
          <a:p>
            <a:pPr indent="0" marL="0">
              <a:buNone/>
            </a:pPr>
            <a:r>
              <a:rPr lang="en-US" sz="1500" b="1" dirty="0">
                <a:solidFill>
                  <a:schemeClr val="tx1"/>
                </a:solidFill>
              </a:rPr>
              <a:t>XGBoost</a:t>
            </a:r>
            <a:endParaRPr lang="en-US" sz="1500" dirty="0"/>
          </a:p>
        </p:txBody>
      </p:sp>
      <p:sp>
        <p:nvSpPr>
          <p:cNvPr id="7" name="Text 4"/>
          <p:cNvSpPr txBox="1"/>
          <p:nvPr/>
        </p:nvSpPr>
        <p:spPr>
          <a:xfrm>
            <a:off x="594360" y="2606040"/>
            <a:ext cx="1325880" cy="960120"/>
          </a:xfrm>
          <a:prstGeom prst="rect">
            <a:avLst/>
          </a:prstGeom>
          <a:noFill/>
          <a:ln/>
        </p:spPr>
        <p:txBody>
          <a:bodyPr wrap="square" lIns="0" tIns="0" rIns="0" bIns="0" rtlCol="0" anchor="t"/>
          <a:lstStyle/>
          <a:p>
            <a:pPr indent="0" marL="0">
              <a:buNone/>
            </a:pPr>
            <a:r>
              <a:rPr lang="en-US" sz="1300" dirty="0">
                <a:solidFill>
                  <a:schemeClr val="tx1"/>
                </a:solidFill>
              </a:rPr>
              <a:t>200 boosted trees, depth 4</a:t>
            </a:r>
            <a:endParaRPr lang="en-US" sz="1300" dirty="0"/>
          </a:p>
        </p:txBody>
      </p:sp>
      <p:sp>
        <p:nvSpPr>
          <p:cNvPr id="8" name="Model card 2"/>
          <p:cNvSpPr/>
          <p:nvPr/>
        </p:nvSpPr>
        <p:spPr>
          <a:xfrm>
            <a:off x="2121408" y="1325880"/>
            <a:ext cx="1554480" cy="2286000"/>
          </a:xfrm>
          <a:prstGeom prst="roundRect">
            <a:avLst>
              <a:gd name="adj" fmla="val 5882"/>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9" name="Step 2"/>
          <p:cNvSpPr txBox="1"/>
          <p:nvPr/>
        </p:nvSpPr>
        <p:spPr>
          <a:xfrm>
            <a:off x="2258568" y="1463040"/>
            <a:ext cx="365760" cy="36576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2258568" y="1965960"/>
            <a:ext cx="1325880" cy="594360"/>
          </a:xfrm>
          <a:prstGeom prst="rect">
            <a:avLst/>
          </a:prstGeom>
          <a:noFill/>
          <a:ln/>
        </p:spPr>
        <p:txBody>
          <a:bodyPr wrap="square" lIns="0" tIns="0" rIns="0" bIns="0" rtlCol="0" anchor="t"/>
          <a:lstStyle/>
          <a:p>
            <a:pPr indent="0" marL="0">
              <a:buNone/>
            </a:pPr>
            <a:r>
              <a:rPr lang="en-US" sz="1500" b="1" dirty="0">
                <a:solidFill>
                  <a:schemeClr val="tx1"/>
                </a:solidFill>
              </a:rPr>
              <a:t>Random Forest</a:t>
            </a:r>
            <a:endParaRPr lang="en-US" sz="1500" dirty="0"/>
          </a:p>
        </p:txBody>
      </p:sp>
      <p:sp>
        <p:nvSpPr>
          <p:cNvPr id="11" name="Text 8"/>
          <p:cNvSpPr txBox="1"/>
          <p:nvPr/>
        </p:nvSpPr>
        <p:spPr>
          <a:xfrm>
            <a:off x="2258568" y="2606040"/>
            <a:ext cx="1325880" cy="960120"/>
          </a:xfrm>
          <a:prstGeom prst="rect">
            <a:avLst/>
          </a:prstGeom>
          <a:noFill/>
          <a:ln/>
        </p:spPr>
        <p:txBody>
          <a:bodyPr wrap="square" lIns="0" tIns="0" rIns="0" bIns="0" rtlCol="0" anchor="t"/>
          <a:lstStyle/>
          <a:p>
            <a:pPr indent="0" marL="0">
              <a:buNone/>
            </a:pPr>
            <a:r>
              <a:rPr lang="en-US" sz="1300" dirty="0">
                <a:solidFill>
                  <a:schemeClr val="tx1"/>
                </a:solidFill>
              </a:rPr>
              <a:t>Average of many decision trees</a:t>
            </a:r>
            <a:endParaRPr lang="en-US" sz="1300" dirty="0"/>
          </a:p>
        </p:txBody>
      </p:sp>
      <p:sp>
        <p:nvSpPr>
          <p:cNvPr id="12" name="Model card 3"/>
          <p:cNvSpPr/>
          <p:nvPr/>
        </p:nvSpPr>
        <p:spPr>
          <a:xfrm>
            <a:off x="3785616" y="1325880"/>
            <a:ext cx="1554480" cy="2286000"/>
          </a:xfrm>
          <a:prstGeom prst="roundRect">
            <a:avLst>
              <a:gd name="adj" fmla="val 5882"/>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13" name="Step 3"/>
          <p:cNvSpPr txBox="1"/>
          <p:nvPr/>
        </p:nvSpPr>
        <p:spPr>
          <a:xfrm>
            <a:off x="3922776" y="1463040"/>
            <a:ext cx="365760" cy="36576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1"/>
          <p:cNvSpPr txBox="1"/>
          <p:nvPr/>
        </p:nvSpPr>
        <p:spPr>
          <a:xfrm>
            <a:off x="3922776" y="1965960"/>
            <a:ext cx="1325880" cy="594360"/>
          </a:xfrm>
          <a:prstGeom prst="rect">
            <a:avLst/>
          </a:prstGeom>
          <a:noFill/>
          <a:ln/>
        </p:spPr>
        <p:txBody>
          <a:bodyPr wrap="square" lIns="0" tIns="0" rIns="0" bIns="0" rtlCol="0" anchor="t"/>
          <a:lstStyle/>
          <a:p>
            <a:pPr indent="0" marL="0">
              <a:buNone/>
            </a:pPr>
            <a:r>
              <a:rPr lang="en-US" sz="1500" b="1" dirty="0">
                <a:solidFill>
                  <a:schemeClr val="tx1"/>
                </a:solidFill>
              </a:rPr>
              <a:t>Linear Regression</a:t>
            </a:r>
            <a:endParaRPr lang="en-US" sz="1500" dirty="0"/>
          </a:p>
        </p:txBody>
      </p:sp>
      <p:sp>
        <p:nvSpPr>
          <p:cNvPr id="15" name="Text 12"/>
          <p:cNvSpPr txBox="1"/>
          <p:nvPr/>
        </p:nvSpPr>
        <p:spPr>
          <a:xfrm>
            <a:off x="3922776" y="2606040"/>
            <a:ext cx="1325880" cy="960120"/>
          </a:xfrm>
          <a:prstGeom prst="rect">
            <a:avLst/>
          </a:prstGeom>
          <a:noFill/>
          <a:ln/>
        </p:spPr>
        <p:txBody>
          <a:bodyPr wrap="square" lIns="0" tIns="0" rIns="0" bIns="0" rtlCol="0" anchor="t"/>
          <a:lstStyle/>
          <a:p>
            <a:pPr indent="0" marL="0">
              <a:buNone/>
            </a:pPr>
            <a:r>
              <a:rPr lang="en-US" sz="1300" dirty="0">
                <a:solidFill>
                  <a:schemeClr val="tx1"/>
                </a:solidFill>
              </a:rPr>
              <a:t>Simple linear baseline</a:t>
            </a:r>
            <a:endParaRPr lang="en-US" sz="1300" dirty="0"/>
          </a:p>
        </p:txBody>
      </p:sp>
      <p:sp>
        <p:nvSpPr>
          <p:cNvPr id="16" name="Model card 4"/>
          <p:cNvSpPr/>
          <p:nvPr/>
        </p:nvSpPr>
        <p:spPr>
          <a:xfrm>
            <a:off x="5449824" y="1325880"/>
            <a:ext cx="1554480" cy="2286000"/>
          </a:xfrm>
          <a:prstGeom prst="roundRect">
            <a:avLst>
              <a:gd name="adj" fmla="val 5882"/>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17" name="Step 4"/>
          <p:cNvSpPr txBox="1"/>
          <p:nvPr/>
        </p:nvSpPr>
        <p:spPr>
          <a:xfrm>
            <a:off x="5586984" y="1463040"/>
            <a:ext cx="365760" cy="36576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 15"/>
          <p:cNvSpPr txBox="1"/>
          <p:nvPr/>
        </p:nvSpPr>
        <p:spPr>
          <a:xfrm>
            <a:off x="5586984" y="1965960"/>
            <a:ext cx="1325880" cy="594360"/>
          </a:xfrm>
          <a:prstGeom prst="rect">
            <a:avLst/>
          </a:prstGeom>
          <a:noFill/>
          <a:ln/>
        </p:spPr>
        <p:txBody>
          <a:bodyPr wrap="square" lIns="0" tIns="0" rIns="0" bIns="0" rtlCol="0" anchor="t"/>
          <a:lstStyle/>
          <a:p>
            <a:pPr indent="0" marL="0">
              <a:buNone/>
            </a:pPr>
            <a:r>
              <a:rPr lang="en-US" sz="1500" b="1" dirty="0">
                <a:solidFill>
                  <a:schemeClr val="tx1"/>
                </a:solidFill>
              </a:rPr>
              <a:t>Seasonal Naive</a:t>
            </a:r>
            <a:endParaRPr lang="en-US" sz="1500" dirty="0"/>
          </a:p>
        </p:txBody>
      </p:sp>
      <p:sp>
        <p:nvSpPr>
          <p:cNvPr id="19" name="Text 16"/>
          <p:cNvSpPr txBox="1"/>
          <p:nvPr/>
        </p:nvSpPr>
        <p:spPr>
          <a:xfrm>
            <a:off x="5586984" y="2606040"/>
            <a:ext cx="1325880" cy="960120"/>
          </a:xfrm>
          <a:prstGeom prst="rect">
            <a:avLst/>
          </a:prstGeom>
          <a:noFill/>
          <a:ln/>
        </p:spPr>
        <p:txBody>
          <a:bodyPr wrap="square" lIns="0" tIns="0" rIns="0" bIns="0" rtlCol="0" anchor="t"/>
          <a:lstStyle/>
          <a:p>
            <a:pPr indent="0" marL="0">
              <a:buNone/>
            </a:pPr>
            <a:r>
              <a:rPr lang="en-US" sz="1300" dirty="0">
                <a:solidFill>
                  <a:schemeClr val="tx1"/>
                </a:solidFill>
              </a:rPr>
              <a:t>Same hour one week earlier</a:t>
            </a:r>
            <a:endParaRPr lang="en-US" sz="1300" dirty="0"/>
          </a:p>
        </p:txBody>
      </p:sp>
      <p:sp>
        <p:nvSpPr>
          <p:cNvPr id="20" name="Model card 5"/>
          <p:cNvSpPr/>
          <p:nvPr/>
        </p:nvSpPr>
        <p:spPr>
          <a:xfrm>
            <a:off x="7114032" y="1325880"/>
            <a:ext cx="1554480" cy="2286000"/>
          </a:xfrm>
          <a:prstGeom prst="roundRect">
            <a:avLst>
              <a:gd name="adj" fmla="val 5882"/>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21" name="Step 5"/>
          <p:cNvSpPr txBox="1"/>
          <p:nvPr/>
        </p:nvSpPr>
        <p:spPr>
          <a:xfrm>
            <a:off x="7251192" y="1463040"/>
            <a:ext cx="365760" cy="36576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Text 19"/>
          <p:cNvSpPr txBox="1"/>
          <p:nvPr/>
        </p:nvSpPr>
        <p:spPr>
          <a:xfrm>
            <a:off x="7251192" y="1965960"/>
            <a:ext cx="1325880" cy="594360"/>
          </a:xfrm>
          <a:prstGeom prst="rect">
            <a:avLst/>
          </a:prstGeom>
          <a:noFill/>
          <a:ln/>
        </p:spPr>
        <p:txBody>
          <a:bodyPr wrap="square" lIns="0" tIns="0" rIns="0" bIns="0" rtlCol="0" anchor="t"/>
          <a:lstStyle/>
          <a:p>
            <a:pPr indent="0" marL="0">
              <a:buNone/>
            </a:pPr>
            <a:r>
              <a:rPr lang="en-US" sz="1500" b="1" dirty="0">
                <a:solidFill>
                  <a:schemeClr val="tx1"/>
                </a:solidFill>
              </a:rPr>
              <a:t>SARIMAX + Fourier</a:t>
            </a:r>
            <a:endParaRPr lang="en-US" sz="1500" dirty="0"/>
          </a:p>
        </p:txBody>
      </p:sp>
      <p:sp>
        <p:nvSpPr>
          <p:cNvPr id="23" name="Text 20"/>
          <p:cNvSpPr txBox="1"/>
          <p:nvPr/>
        </p:nvSpPr>
        <p:spPr>
          <a:xfrm>
            <a:off x="7251192" y="2606040"/>
            <a:ext cx="1325880" cy="960120"/>
          </a:xfrm>
          <a:prstGeom prst="rect">
            <a:avLst/>
          </a:prstGeom>
          <a:noFill/>
          <a:ln/>
        </p:spPr>
        <p:txBody>
          <a:bodyPr wrap="square" lIns="0" tIns="0" rIns="0" bIns="0" rtlCol="0" anchor="t"/>
          <a:lstStyle/>
          <a:p>
            <a:pPr indent="0" marL="0">
              <a:buNone/>
            </a:pPr>
            <a:r>
              <a:rPr lang="en-US" sz="1300" dirty="0">
                <a:solidFill>
                  <a:schemeClr val="tx1"/>
                </a:solidFill>
              </a:rPr>
              <a:t>ARMA errors with daily and weekly seasonality</a:t>
            </a:r>
            <a:endParaRPr lang="en-US" sz="1300" dirty="0"/>
          </a:p>
        </p:txBody>
      </p:sp>
      <p:sp>
        <p:nvSpPr>
          <p:cNvPr id="24" name="Selection protocol"/>
          <p:cNvSpPr/>
          <p:nvPr/>
        </p:nvSpPr>
        <p:spPr>
          <a:xfrm>
            <a:off x="457200" y="3840480"/>
            <a:ext cx="8229600" cy="685800"/>
          </a:xfrm>
          <a:prstGeom prst="roundRect">
            <a:avLst>
              <a:gd name="adj" fmla="val 13333"/>
            </a:avLst>
          </a:prstGeom>
          <a:solidFill>
            <a:schemeClr val="accent1"/>
          </a:solidFill>
          <a:ln w="6350">
            <a:solidFill>
              <a:schemeClr val="accent1"/>
            </a:solidFill>
            <a:prstDash val="solid"/>
          </a:ln>
          <a:effectLst>
            <a:outerShdw sx="100000" sy="100000" kx="0" ky="0" algn="bl" rotWithShape="0" blurRad="76200" dist="25400" dir="5400000">
              <a:srgbClr val="111827">
                <a:alpha val="12000"/>
              </a:srgbClr>
            </a:outerShdw>
          </a:effectLst>
        </p:spPr>
      </p:sp>
      <p:sp>
        <p:nvSpPr>
          <p:cNvPr id="25" name="Text 22"/>
          <p:cNvSpPr txBox="1"/>
          <p:nvPr/>
        </p:nvSpPr>
        <p:spPr>
          <a:xfrm>
            <a:off x="640080" y="3886200"/>
            <a:ext cx="7863840" cy="594360"/>
          </a:xfrm>
          <a:prstGeom prst="rect">
            <a:avLst/>
          </a:prstGeom>
          <a:noFill/>
          <a:ln/>
        </p:spPr>
        <p:txBody>
          <a:bodyPr wrap="square" lIns="0" tIns="0" rIns="0" bIns="0" rtlCol="0" anchor="ctr"/>
          <a:lstStyle/>
          <a:p>
            <a:pPr indent="0" marL="0">
              <a:buNone/>
            </a:pPr>
            <a:r>
              <a:rPr lang="en-US" sz="1500" b="1" dirty="0">
                <a:solidFill>
                  <a:schemeClr val="bg1"/>
                </a:solidFill>
              </a:rPr>
              <a:t>Settings chosen on validation windows, models refit on train + validation, tested once.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Point forecasts: XGBoost and Random Forest are close</a:t>
            </a:r>
            <a:endParaRPr lang="en-US" sz="2600" dirty="0"/>
          </a:p>
        </p:txBody>
      </p:sp>
      <p:graphicFrame>
        <p:nvGraphicFramePr>
          <p:cNvPr id="4" name="Chart 0" descr=""/>
          <p:cNvGraphicFramePr/>
          <p:nvPr/>
        </p:nvGraphicFramePr>
        <p:xfrm>
          <a:off x="365760" y="1188720"/>
          <a:ext cx="457200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120640" y="1280160"/>
          <a:ext cx="3566160" cy="914400"/>
        </p:xfrm>
        <a:graphic>
          <a:graphicData uri="http://schemas.openxmlformats.org/drawingml/2006/table">
            <a:tbl>
              <a:tblPr/>
              <a:tblGrid>
                <a:gridCol w="1371600"/>
                <a:gridCol w="640080"/>
                <a:gridCol w="731520"/>
                <a:gridCol w="822960"/>
              </a:tblGrid>
              <a:tr h="384048">
                <a:tc>
                  <a:txBody>
                    <a:bodyPr/>
                    <a:lstStyle/>
                    <a:p>
                      <a:pPr algn="l" indent="0" marL="0">
                        <a:buNone/>
                      </a:pPr>
                      <a:r>
                        <a:rPr lang="en-US" sz="1200" b="1" dirty="0">
                          <a:solidFill>
                            <a:schemeClr val="bg1"/>
                          </a:solidFill>
                        </a:rPr>
                        <a:t>Model</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MAE</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RMSE</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R²</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r>
              <a:tr h="384048">
                <a:tc>
                  <a:txBody>
                    <a:bodyPr/>
                    <a:lstStyle/>
                    <a:p>
                      <a:pPr algn="l" indent="0" marL="0">
                        <a:buNone/>
                      </a:pPr>
                      <a:r>
                        <a:rPr lang="en-US" sz="1200" b="1" dirty="0">
                          <a:solidFill>
                            <a:schemeClr val="tx1"/>
                          </a:solidFill>
                        </a:rPr>
                        <a:t>XGBoost</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6.49</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9.06</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0.682</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r>
              <a:tr h="384048">
                <a:tc>
                  <a:txBody>
                    <a:bodyPr/>
                    <a:lstStyle/>
                    <a:p>
                      <a:pPr algn="l" indent="0" marL="0">
                        <a:buNone/>
                      </a:pPr>
                      <a:r>
                        <a:rPr lang="en-US" sz="1200" dirty="0">
                          <a:solidFill>
                            <a:schemeClr val="tx1"/>
                          </a:solidFill>
                        </a:rPr>
                        <a:t>Random Forest</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6.38</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9.10</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0.679</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r>
              <a:tr h="384048">
                <a:tc>
                  <a:txBody>
                    <a:bodyPr/>
                    <a:lstStyle/>
                    <a:p>
                      <a:pPr algn="l" indent="0" marL="0">
                        <a:buNone/>
                      </a:pPr>
                      <a:r>
                        <a:rPr lang="en-US" sz="1200" dirty="0">
                          <a:solidFill>
                            <a:schemeClr val="tx1"/>
                          </a:solidFill>
                        </a:rPr>
                        <a:t>Linear Regression</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7.52</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9.94</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0.617</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r>
              <a:tr h="384048">
                <a:tc>
                  <a:txBody>
                    <a:bodyPr/>
                    <a:lstStyle/>
                    <a:p>
                      <a:pPr algn="l" indent="0" marL="0">
                        <a:buNone/>
                      </a:pPr>
                      <a:r>
                        <a:rPr lang="en-US" sz="1200" dirty="0">
                          <a:solidFill>
                            <a:schemeClr val="tx1"/>
                          </a:solidFill>
                        </a:rPr>
                        <a:t>Seasonal Naive</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7.14</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10.52</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0.572</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r>
              <a:tr h="384048">
                <a:tc>
                  <a:txBody>
                    <a:bodyPr/>
                    <a:lstStyle/>
                    <a:p>
                      <a:pPr algn="l" indent="0" marL="0">
                        <a:buNone/>
                      </a:pPr>
                      <a:r>
                        <a:rPr lang="en-US" sz="1200" dirty="0">
                          <a:solidFill>
                            <a:schemeClr val="tx1"/>
                          </a:solidFill>
                        </a:rPr>
                        <a:t>SARIMAX + Fourier</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11.06</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13.73</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0.270</a:t>
                      </a:r>
                      <a:endParaRPr lang="en-US" sz="1200" dirty="0"/>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r>
            </a:tbl>
          </a:graphicData>
        </a:graphic>
      </p:graphicFrame>
      <p:sp>
        <p:nvSpPr>
          <p:cNvPr id="6" name="DM test callout"/>
          <p:cNvSpPr/>
          <p:nvPr/>
        </p:nvSpPr>
        <p:spPr>
          <a:xfrm>
            <a:off x="457200" y="4114800"/>
            <a:ext cx="8229600" cy="502920"/>
          </a:xfrm>
          <a:prstGeom prst="roundRect">
            <a:avLst>
              <a:gd name="adj" fmla="val 18182"/>
            </a:avLst>
          </a:prstGeom>
          <a:solidFill>
            <a:schemeClr val="accent1"/>
          </a:solidFill>
          <a:ln w="6350">
            <a:solidFill>
              <a:schemeClr val="accent1"/>
            </a:solidFill>
            <a:prstDash val="solid"/>
          </a:ln>
          <a:effectLst>
            <a:outerShdw sx="100000" sy="100000" kx="0" ky="0" algn="bl" rotWithShape="0" blurRad="76200" dist="25400" dir="5400000">
              <a:srgbClr val="111827">
                <a:alpha val="12000"/>
              </a:srgbClr>
            </a:outerShdw>
          </a:effectLst>
        </p:spPr>
      </p:sp>
      <p:sp>
        <p:nvSpPr>
          <p:cNvPr id="7" name="Text 2"/>
          <p:cNvSpPr txBox="1"/>
          <p:nvPr/>
        </p:nvSpPr>
        <p:spPr>
          <a:xfrm>
            <a:off x="640080" y="4133088"/>
            <a:ext cx="7863840" cy="457200"/>
          </a:xfrm>
          <a:prstGeom prst="rect">
            <a:avLst/>
          </a:prstGeom>
          <a:noFill/>
          <a:ln/>
        </p:spPr>
        <p:txBody>
          <a:bodyPr wrap="square" lIns="0" tIns="0" rIns="0" bIns="0" rtlCol="0" anchor="ctr"/>
          <a:lstStyle/>
          <a:p>
            <a:pPr indent="0" marL="0">
              <a:buNone/>
            </a:pPr>
            <a:r>
              <a:rPr lang="en-US" sz="1500" b="1" dirty="0">
                <a:solidFill>
                  <a:schemeClr val="bg1"/>
                </a:solidFill>
              </a:rPr>
              <a:t>Diebold-Mariano, XGBoost vs Random Forest: p = 0.81, no significant difference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One forecast window: shape captured, peak missed</a:t>
            </a:r>
            <a:endParaRPr lang="en-US" sz="2600" dirty="0"/>
          </a:p>
        </p:txBody>
      </p:sp>
      <p:pic>
        <p:nvPicPr>
          <p:cNvPr id="4" name="Image 0" descr="Actual versus forecast demand over the 24 hours of the first test window for five models">    </p:cNvPr>
          <p:cNvPicPr>
            <a:picLocks noChangeAspect="1"/>
          </p:cNvPicPr>
          <p:nvPr/>
        </p:nvPicPr>
        <p:blipFill>
          <a:blip r:embed="rId1"/>
          <a:stretch>
            <a:fillRect/>
          </a:stretch>
        </p:blipFill>
        <p:spPr>
          <a:xfrm>
            <a:off x="457200" y="1234440"/>
            <a:ext cx="5559558" cy="3063240"/>
          </a:xfrm>
          <a:prstGeom prst="rect">
            <a:avLst/>
          </a:prstGeom>
        </p:spPr>
      </p:pic>
      <p:sp>
        <p:nvSpPr>
          <p:cNvPr id="5" name="Text 1"/>
          <p:cNvSpPr txBox="1"/>
          <p:nvPr/>
        </p:nvSpPr>
        <p:spPr>
          <a:xfrm>
            <a:off x="457200" y="4343400"/>
            <a:ext cx="5559558" cy="365760"/>
          </a:xfrm>
          <a:prstGeom prst="rect">
            <a:avLst/>
          </a:prstGeom>
          <a:noFill/>
          <a:ln/>
        </p:spPr>
        <p:txBody>
          <a:bodyPr wrap="square" lIns="0" tIns="0" rIns="0" bIns="0" rtlCol="0" anchor="t"/>
          <a:lstStyle/>
          <a:p>
            <a:pPr indent="0" marL="0">
              <a:buNone/>
            </a:pPr>
            <a:r>
              <a:rPr lang="en-US" sz="1100" dirty="0">
                <a:solidFill>
                  <a:schemeClr val="accent6"/>
                </a:solidFill>
              </a:rPr>
              <a:t>Test window 1 (8 Jan 2019, forecast start 05:00 local). One window, not typical performance.</a:t>
            </a:r>
            <a:endParaRPr lang="en-US" sz="1100" dirty="0"/>
          </a:p>
        </p:txBody>
      </p:sp>
      <p:sp>
        <p:nvSpPr>
          <p:cNvPr id="6" name="Takeaways"/>
          <p:cNvSpPr/>
          <p:nvPr/>
        </p:nvSpPr>
        <p:spPr>
          <a:xfrm>
            <a:off x="6199638" y="1234440"/>
            <a:ext cx="2487162" cy="2286000"/>
          </a:xfrm>
          <a:prstGeom prst="roundRect">
            <a:avLst>
              <a:gd name="adj" fmla="val 4000"/>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7" name="Text 3"/>
          <p:cNvSpPr txBox="1"/>
          <p:nvPr/>
        </p:nvSpPr>
        <p:spPr>
          <a:xfrm>
            <a:off x="6382518" y="1371600"/>
            <a:ext cx="2121402"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Daily shape is captured</a:t>
            </a:r>
            <a:endParaRPr lang="en-US" sz="1400" dirty="0"/>
          </a:p>
          <a:p>
            <a:pPr marL="342900" indent="-342900">
              <a:spcAft>
                <a:spcPts val="600"/>
              </a:spcAft>
              <a:buSzPct val="100000"/>
              <a:buChar char="•"/>
            </a:pPr>
            <a:r>
              <a:rPr lang="en-US" sz="1400" dirty="0">
                <a:solidFill>
                  <a:schemeClr val="tx1"/>
                </a:solidFill>
              </a:rPr>
              <a:t>Morning peak is under-predicted by most models</a:t>
            </a:r>
            <a:endParaRPr lang="en-US" sz="1400" dirty="0"/>
          </a:p>
          <a:p>
            <a:pPr marL="342900" indent="-342900">
              <a:spcAft>
                <a:spcPts val="600"/>
              </a:spcAft>
              <a:buSzPct val="100000"/>
              <a:buChar char="•"/>
            </a:pPr>
            <a:r>
              <a:rPr lang="en-US" sz="1400" dirty="0">
                <a:solidFill>
                  <a:schemeClr val="tx1"/>
                </a:solidFill>
              </a:rPr>
              <a:t>SARIMAX overshoots it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Rolling origin: stable on average, volatile by day</a:t>
            </a:r>
            <a:endParaRPr lang="en-US" sz="2600" dirty="0"/>
          </a:p>
        </p:txBody>
      </p:sp>
      <p:pic>
        <p:nvPicPr>
          <p:cNvPr id="4" name="Image 0" descr="RMSE of each of the 91 daily rolling-origin windows with mean and single-test reference lines">    </p:cNvPr>
          <p:cNvPicPr>
            <a:picLocks noChangeAspect="1"/>
          </p:cNvPicPr>
          <p:nvPr/>
        </p:nvPicPr>
        <p:blipFill>
          <a:blip r:embed="rId1"/>
          <a:stretch>
            <a:fillRect/>
          </a:stretch>
        </p:blipFill>
        <p:spPr>
          <a:xfrm>
            <a:off x="457200" y="1234440"/>
            <a:ext cx="5120640" cy="2304288"/>
          </a:xfrm>
          <a:prstGeom prst="rect">
            <a:avLst/>
          </a:prstGeom>
        </p:spPr>
      </p:pic>
      <p:sp>
        <p:nvSpPr>
          <p:cNvPr id="5" name="Stat daily 24-hour windows"/>
          <p:cNvSpPr/>
          <p:nvPr/>
        </p:nvSpPr>
        <p:spPr>
          <a:xfrm>
            <a:off x="5760720" y="1234440"/>
            <a:ext cx="2926080" cy="731520"/>
          </a:xfrm>
          <a:prstGeom prst="roundRect">
            <a:avLst>
              <a:gd name="adj" fmla="val 12500"/>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6" name="Text 2"/>
          <p:cNvSpPr txBox="1"/>
          <p:nvPr/>
        </p:nvSpPr>
        <p:spPr>
          <a:xfrm>
            <a:off x="5897880" y="1344168"/>
            <a:ext cx="2651760" cy="36576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91</a:t>
            </a:r>
            <a:endParaRPr lang="en-US" sz="2200" dirty="0"/>
          </a:p>
        </p:txBody>
      </p:sp>
      <p:sp>
        <p:nvSpPr>
          <p:cNvPr id="7" name="Text 3"/>
          <p:cNvSpPr txBox="1"/>
          <p:nvPr/>
        </p:nvSpPr>
        <p:spPr>
          <a:xfrm>
            <a:off x="5897880" y="1658722"/>
            <a:ext cx="2651760" cy="277978"/>
          </a:xfrm>
          <a:prstGeom prst="rect">
            <a:avLst/>
          </a:prstGeom>
          <a:noFill/>
          <a:ln/>
        </p:spPr>
        <p:txBody>
          <a:bodyPr wrap="square" lIns="0" tIns="0" rIns="0" bIns="0" rtlCol="0" anchor="t"/>
          <a:lstStyle/>
          <a:p>
            <a:pPr indent="0" marL="0">
              <a:buNone/>
            </a:pPr>
            <a:r>
              <a:rPr lang="en-US" sz="1200" dirty="0">
                <a:solidFill>
                  <a:schemeClr val="tx1"/>
                </a:solidFill>
              </a:rPr>
              <a:t>daily 24-hour windows</a:t>
            </a:r>
            <a:endParaRPr lang="en-US" sz="1200" dirty="0"/>
          </a:p>
        </p:txBody>
      </p:sp>
      <p:sp>
        <p:nvSpPr>
          <p:cNvPr id="8" name="Stat median MAE / RMSE (kWh)"/>
          <p:cNvSpPr/>
          <p:nvPr/>
        </p:nvSpPr>
        <p:spPr>
          <a:xfrm>
            <a:off x="5760720" y="2057400"/>
            <a:ext cx="2926080" cy="731520"/>
          </a:xfrm>
          <a:prstGeom prst="roundRect">
            <a:avLst>
              <a:gd name="adj" fmla="val 12500"/>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9" name="Text 5"/>
          <p:cNvSpPr txBox="1"/>
          <p:nvPr/>
        </p:nvSpPr>
        <p:spPr>
          <a:xfrm>
            <a:off x="5897880" y="2167128"/>
            <a:ext cx="2651760" cy="36576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5.70 / 7.42</a:t>
            </a:r>
            <a:endParaRPr lang="en-US" sz="2200" dirty="0"/>
          </a:p>
        </p:txBody>
      </p:sp>
      <p:sp>
        <p:nvSpPr>
          <p:cNvPr id="10" name="Text 6"/>
          <p:cNvSpPr txBox="1"/>
          <p:nvPr/>
        </p:nvSpPr>
        <p:spPr>
          <a:xfrm>
            <a:off x="5897880" y="2481682"/>
            <a:ext cx="2651760" cy="277978"/>
          </a:xfrm>
          <a:prstGeom prst="rect">
            <a:avLst/>
          </a:prstGeom>
          <a:noFill/>
          <a:ln/>
        </p:spPr>
        <p:txBody>
          <a:bodyPr wrap="square" lIns="0" tIns="0" rIns="0" bIns="0" rtlCol="0" anchor="t"/>
          <a:lstStyle/>
          <a:p>
            <a:pPr indent="0" marL="0">
              <a:buNone/>
            </a:pPr>
            <a:r>
              <a:rPr lang="en-US" sz="1200" dirty="0">
                <a:solidFill>
                  <a:schemeClr val="tx1"/>
                </a:solidFill>
              </a:rPr>
              <a:t>median MAE / RMSE (kWh)</a:t>
            </a:r>
            <a:endParaRPr lang="en-US" sz="1200" dirty="0"/>
          </a:p>
        </p:txBody>
      </p:sp>
      <p:sp>
        <p:nvSpPr>
          <p:cNvPr id="11" name="Stat pooled R² over all folds"/>
          <p:cNvSpPr/>
          <p:nvPr/>
        </p:nvSpPr>
        <p:spPr>
          <a:xfrm>
            <a:off x="5760720" y="2880360"/>
            <a:ext cx="2926080" cy="731520"/>
          </a:xfrm>
          <a:prstGeom prst="roundRect">
            <a:avLst>
              <a:gd name="adj" fmla="val 12500"/>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12" name="Text 8"/>
          <p:cNvSpPr txBox="1"/>
          <p:nvPr/>
        </p:nvSpPr>
        <p:spPr>
          <a:xfrm>
            <a:off x="5897880" y="2990088"/>
            <a:ext cx="2651760" cy="36576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0.672</a:t>
            </a:r>
            <a:endParaRPr lang="en-US" sz="2200" dirty="0"/>
          </a:p>
        </p:txBody>
      </p:sp>
      <p:sp>
        <p:nvSpPr>
          <p:cNvPr id="13" name="Text 9"/>
          <p:cNvSpPr txBox="1"/>
          <p:nvPr/>
        </p:nvSpPr>
        <p:spPr>
          <a:xfrm>
            <a:off x="5897880" y="3304642"/>
            <a:ext cx="2651760" cy="277978"/>
          </a:xfrm>
          <a:prstGeom prst="rect">
            <a:avLst/>
          </a:prstGeom>
          <a:noFill/>
          <a:ln/>
        </p:spPr>
        <p:txBody>
          <a:bodyPr wrap="square" lIns="0" tIns="0" rIns="0" bIns="0" rtlCol="0" anchor="t"/>
          <a:lstStyle/>
          <a:p>
            <a:pPr indent="0" marL="0">
              <a:buNone/>
            </a:pPr>
            <a:r>
              <a:rPr lang="en-US" sz="1200" dirty="0">
                <a:solidFill>
                  <a:schemeClr val="tx1"/>
                </a:solidFill>
              </a:rPr>
              <a:t>pooled R² over all folds</a:t>
            </a:r>
            <a:endParaRPr lang="en-US" sz="1200" dirty="0"/>
          </a:p>
        </p:txBody>
      </p:sp>
      <p:sp>
        <p:nvSpPr>
          <p:cNvPr id="14" name="Caution"/>
          <p:cNvSpPr/>
          <p:nvPr/>
        </p:nvSpPr>
        <p:spPr>
          <a:xfrm>
            <a:off x="457200" y="3840480"/>
            <a:ext cx="8229600" cy="777240"/>
          </a:xfrm>
          <a:prstGeom prst="roundRect">
            <a:avLst>
              <a:gd name="adj" fmla="val 11765"/>
            </a:avLst>
          </a:prstGeom>
          <a:solidFill>
            <a:schemeClr val="accent2"/>
          </a:solidFill>
          <a:ln w="6350">
            <a:solidFill>
              <a:schemeClr val="accent2"/>
            </a:solidFill>
            <a:prstDash val="solid"/>
          </a:ln>
          <a:effectLst>
            <a:outerShdw sx="100000" sy="100000" kx="0" ky="0" algn="bl" rotWithShape="0" blurRad="76200" dist="25400" dir="5400000">
              <a:srgbClr val="111827">
                <a:alpha val="12000"/>
              </a:srgbClr>
            </a:outerShdw>
          </a:effectLst>
        </p:spPr>
      </p:sp>
      <p:sp>
        <p:nvSpPr>
          <p:cNvPr id="15" name="Text 11"/>
          <p:cNvSpPr txBox="1"/>
          <p:nvPr/>
        </p:nvSpPr>
        <p:spPr>
          <a:xfrm>
            <a:off x="640080" y="3886200"/>
            <a:ext cx="7863840" cy="685800"/>
          </a:xfrm>
          <a:prstGeom prst="rect">
            <a:avLst/>
          </a:prstGeom>
          <a:noFill/>
          <a:ln/>
        </p:spPr>
        <p:txBody>
          <a:bodyPr wrap="square" lIns="0" tIns="0" rIns="0" bIns="0" rtlCol="0" anchor="ctr"/>
          <a:lstStyle/>
          <a:p>
            <a:pPr indent="0" marL="0">
              <a:buNone/>
            </a:pPr>
            <a:r>
              <a:rPr lang="en-US" sz="1400" b="1" dirty="0">
                <a:solidFill>
                  <a:schemeClr val="bg1"/>
                </a:solidFill>
              </a:rPr>
              <a:t>Worst day: RMSE 28.87 kWh. Single-day R² can reach -134 on low-variance days, so use the pooled R².</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SHAP: the previous hour dominates</a:t>
            </a:r>
            <a:endParaRPr lang="en-US" sz="2600" dirty="0"/>
          </a:p>
        </p:txBody>
      </p:sp>
      <p:pic>
        <p:nvPicPr>
          <p:cNvPr id="4" name="Image 0" descr="Mean absolute SHAP value for the twelve most important features">    </p:cNvPr>
          <p:cNvPicPr>
            <a:picLocks noChangeAspect="1"/>
          </p:cNvPicPr>
          <p:nvPr/>
        </p:nvPicPr>
        <p:blipFill>
          <a:blip r:embed="rId1"/>
          <a:stretch>
            <a:fillRect/>
          </a:stretch>
        </p:blipFill>
        <p:spPr>
          <a:xfrm>
            <a:off x="457200" y="1234440"/>
            <a:ext cx="4651883" cy="3246120"/>
          </a:xfrm>
          <a:prstGeom prst="rect">
            <a:avLst/>
          </a:prstGeom>
        </p:spPr>
      </p:pic>
      <p:sp>
        <p:nvSpPr>
          <p:cNvPr id="5" name="SHAP takeaways"/>
          <p:cNvSpPr/>
          <p:nvPr/>
        </p:nvSpPr>
        <p:spPr>
          <a:xfrm>
            <a:off x="5383403" y="1234440"/>
            <a:ext cx="3303397" cy="2560320"/>
          </a:xfrm>
          <a:prstGeom prst="roundRect">
            <a:avLst>
              <a:gd name="adj" fmla="val 3571"/>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6" name="Text 2"/>
          <p:cNvSpPr txBox="1"/>
          <p:nvPr/>
        </p:nvSpPr>
        <p:spPr>
          <a:xfrm>
            <a:off x="5566283" y="1371600"/>
            <a:ext cx="2937637"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lag_1 is about 59% of XGBoost importance</a:t>
            </a:r>
            <a:endParaRPr lang="en-US" sz="1400" dirty="0"/>
          </a:p>
          <a:p>
            <a:pPr marL="342900" indent="-342900">
              <a:spcAft>
                <a:spcPts val="600"/>
              </a:spcAft>
              <a:buSzPct val="100000"/>
              <a:buChar char="•"/>
            </a:pPr>
            <a:r>
              <a:rPr lang="en-US" sz="1400" dirty="0">
                <a:solidFill>
                  <a:schemeClr val="tx1"/>
                </a:solidFill>
              </a:rPr>
              <a:t>Next: hour of day, then the same hour 1 and 2 weeks earlier</a:t>
            </a:r>
            <a:endParaRPr lang="en-US" sz="1400" dirty="0"/>
          </a:p>
          <a:p>
            <a:pPr marL="342900" indent="-342900">
              <a:spcAft>
                <a:spcPts val="600"/>
              </a:spcAft>
              <a:buSzPct val="100000"/>
              <a:buChar char="•"/>
            </a:pPr>
            <a:r>
              <a:rPr lang="en-US" sz="1400" dirty="0">
                <a:solidFill>
                  <a:schemeClr val="tx1"/>
                </a:solidFill>
              </a:rPr>
              <a:t>Rolling stats and flags add little</a:t>
            </a:r>
            <a:endParaRPr lang="en-US" sz="1400" dirty="0"/>
          </a:p>
          <a:p>
            <a:pPr marL="342900" indent="-342900">
              <a:spcAft>
                <a:spcPts val="600"/>
              </a:spcAft>
              <a:buSzPct val="100000"/>
              <a:buChar char="•"/>
            </a:pPr>
            <a:r>
              <a:rPr lang="en-US" sz="1400" dirty="0">
                <a:solidFill>
                  <a:schemeClr val="tx1"/>
                </a:solidFill>
              </a:rPr>
              <a:t>Shows what the model uses, not causes</a:t>
            </a:r>
            <a:endParaRPr lang="en-US" sz="1400" dirty="0"/>
          </a:p>
        </p:txBody>
      </p:sp>
      <p:sp>
        <p:nvSpPr>
          <p:cNvPr id="7" name="Text 3"/>
          <p:cNvSpPr txBox="1"/>
          <p:nvPr/>
        </p:nvSpPr>
        <p:spPr>
          <a:xfrm>
            <a:off x="457200" y="4526280"/>
            <a:ext cx="5486400" cy="228600"/>
          </a:xfrm>
          <a:prstGeom prst="rect">
            <a:avLst/>
          </a:prstGeom>
          <a:noFill/>
          <a:ln/>
        </p:spPr>
        <p:txBody>
          <a:bodyPr wrap="square" lIns="0" tIns="0" rIns="0" bIns="0" rtlCol="0" anchor="t"/>
          <a:lstStyle/>
          <a:p>
            <a:pPr indent="0" marL="0">
              <a:buNone/>
            </a:pPr>
            <a:r>
              <a:rPr lang="en-US" sz="1000" dirty="0">
                <a:solidFill>
                  <a:schemeClr val="accent6"/>
                </a:solidFill>
              </a:rPr>
              <a:t>Figure averages Random Forest and XGBoost; percentages are XGBoost only.</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Raw 90% intervals covered only 71.2%</a:t>
            </a:r>
            <a:endParaRPr lang="en-US" sz="2600" dirty="0"/>
          </a:p>
        </p:txBody>
      </p:sp>
      <p:graphicFrame>
        <p:nvGraphicFramePr>
          <p:cNvPr id="4" name="Chart 0" descr=""/>
          <p:cNvGraphicFramePr/>
          <p:nvPr/>
        </p:nvGraphicFramePr>
        <p:xfrm>
          <a:off x="365760" y="1188720"/>
          <a:ext cx="4023360" cy="3108960"/>
        </p:xfrm>
        <a:graphic xmlns:a="http://schemas.openxmlformats.org/drawingml/2006/main">
          <a:graphicData uri="http://schemas.openxmlformats.org/drawingml/2006/chart">
            <c:chart xmlns:c="http://schemas.openxmlformats.org/drawingml/2006/chart" r:id="rId1"/>
          </a:graphicData>
        </a:graphic>
      </p:graphicFrame>
      <p:sp>
        <p:nvSpPr>
          <p:cNvPr id="5" name="Why it under-covered"/>
          <p:cNvSpPr/>
          <p:nvPr/>
        </p:nvSpPr>
        <p:spPr>
          <a:xfrm>
            <a:off x="4663440" y="1234440"/>
            <a:ext cx="4023360" cy="3063240"/>
          </a:xfrm>
          <a:prstGeom prst="roundRect">
            <a:avLst>
              <a:gd name="adj" fmla="val 2985"/>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6" name="Text 2"/>
          <p:cNvSpPr txBox="1"/>
          <p:nvPr/>
        </p:nvSpPr>
        <p:spPr>
          <a:xfrm>
            <a:off x="4846320" y="1371600"/>
            <a:ext cx="3657600" cy="320040"/>
          </a:xfrm>
          <a:prstGeom prst="rect">
            <a:avLst/>
          </a:prstGeom>
          <a:noFill/>
          <a:ln/>
        </p:spPr>
        <p:txBody>
          <a:bodyPr wrap="square" lIns="0" tIns="0" rIns="0" bIns="0" rtlCol="0" anchor="t"/>
          <a:lstStyle/>
          <a:p>
            <a:pPr indent="0" marL="0">
              <a:buNone/>
            </a:pPr>
            <a:r>
              <a:rPr lang="en-US" sz="1600" b="1" dirty="0">
                <a:solidFill>
                  <a:schemeClr val="accent2"/>
                </a:solidFill>
              </a:rPr>
              <a:t>Why it under-covered</a:t>
            </a:r>
            <a:endParaRPr lang="en-US" sz="1600" dirty="0"/>
          </a:p>
        </p:txBody>
      </p:sp>
      <p:sp>
        <p:nvSpPr>
          <p:cNvPr id="7" name="Text 3"/>
          <p:cNvSpPr txBox="1"/>
          <p:nvPr/>
        </p:nvSpPr>
        <p:spPr>
          <a:xfrm>
            <a:off x="4846320" y="1783080"/>
            <a:ext cx="365760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One recursive path: error build-up over 24 steps is ignored</a:t>
            </a:r>
            <a:endParaRPr lang="en-US" sz="1400" dirty="0"/>
          </a:p>
          <a:p>
            <a:pPr marL="342900" indent="-342900">
              <a:spcAft>
                <a:spcPts val="600"/>
              </a:spcAft>
              <a:buSzPct val="100000"/>
              <a:buChar char="•"/>
            </a:pPr>
            <a:r>
              <a:rPr lang="en-US" sz="1400" dirty="0">
                <a:solidFill>
                  <a:schemeClr val="tx1"/>
                </a:solidFill>
              </a:rPr>
              <a:t>Zero-demand night hours fall just below the lower bound</a:t>
            </a:r>
            <a:endParaRPr lang="en-US" sz="1400" dirty="0"/>
          </a:p>
          <a:p>
            <a:pPr marL="342900" indent="-342900">
              <a:spcAft>
                <a:spcPts val="600"/>
              </a:spcAft>
              <a:buSzPct val="100000"/>
              <a:buChar char="•"/>
            </a:pPr>
            <a:r>
              <a:rPr lang="en-US" sz="1400" dirty="0">
                <a:solidFill>
                  <a:schemeClr val="tx1"/>
                </a:solidFill>
              </a:rPr>
              <a:t>Peaks are under-predicted</a:t>
            </a:r>
            <a:endParaRPr lang="en-US" sz="1400" dirty="0"/>
          </a:p>
        </p:txBody>
      </p:sp>
      <p:sp>
        <p:nvSpPr>
          <p:cNvPr id="8" name="Text 4"/>
          <p:cNvSpPr txBox="1"/>
          <p:nvPr/>
        </p:nvSpPr>
        <p:spPr>
          <a:xfrm>
            <a:off x="4846320" y="3840480"/>
            <a:ext cx="3657600" cy="365760"/>
          </a:xfrm>
          <a:prstGeom prst="rect">
            <a:avLst/>
          </a:prstGeom>
          <a:noFill/>
          <a:ln/>
        </p:spPr>
        <p:txBody>
          <a:bodyPr wrap="square" lIns="0" tIns="0" rIns="0" bIns="0" rtlCol="0" anchor="t"/>
          <a:lstStyle/>
          <a:p>
            <a:pPr indent="0" marL="0">
              <a:buNone/>
            </a:pPr>
            <a:r>
              <a:rPr lang="en-US" sz="1300" b="1" dirty="0">
                <a:solidFill>
                  <a:schemeClr val="tx1"/>
                </a:solidFill>
              </a:rPr>
              <a:t>1,080 test hours; average width 29.46 kWh</a:t>
            </a:r>
            <a:endParaRPr lang="en-US" sz="1300" dirty="0"/>
          </a:p>
        </p:txBody>
      </p:sp>
      <p:sp>
        <p:nvSpPr>
          <p:cNvPr id="9" name="Text 5"/>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200" dirty="0">
                <a:solidFill>
                  <a:schemeClr val="accent6"/>
                </a:solidFill>
              </a:rPr>
              <a:t>23.4% fell below the lower bound, 5.4% above the upper bound.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Conformal calibration lifts coverage to 90.9%</a:t>
            </a:r>
            <a:endParaRPr lang="en-US" sz="2600" dirty="0"/>
          </a:p>
        </p:txBody>
      </p:sp>
      <p:sp>
        <p:nvSpPr>
          <p:cNvPr id="4" name="Conformal step 1"/>
          <p:cNvSpPr/>
          <p:nvPr/>
        </p:nvSpPr>
        <p:spPr>
          <a:xfrm>
            <a:off x="457200" y="1280160"/>
            <a:ext cx="4297680" cy="713232"/>
          </a:xfrm>
          <a:prstGeom prst="roundRect">
            <a:avLst>
              <a:gd name="adj" fmla="val 12821"/>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5" name="Step 1"/>
          <p:cNvSpPr txBox="1"/>
          <p:nvPr/>
        </p:nvSpPr>
        <p:spPr>
          <a:xfrm>
            <a:off x="594360" y="1435608"/>
            <a:ext cx="402336" cy="402336"/>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143000" y="1316736"/>
            <a:ext cx="3520440" cy="640080"/>
          </a:xfrm>
          <a:prstGeom prst="rect">
            <a:avLst/>
          </a:prstGeom>
          <a:noFill/>
          <a:ln/>
        </p:spPr>
        <p:txBody>
          <a:bodyPr wrap="square" lIns="0" tIns="0" rIns="0" bIns="0" rtlCol="0" anchor="ctr"/>
          <a:lstStyle/>
          <a:p>
            <a:pPr indent="0" marL="0">
              <a:buNone/>
            </a:pPr>
            <a:r>
              <a:rPr lang="en-US" sz="1400" dirty="0">
                <a:solidFill>
                  <a:schemeClr val="tx1"/>
                </a:solidFill>
              </a:rPr>
              <a:t>Fit the quantile model on training data only</a:t>
            </a:r>
            <a:endParaRPr lang="en-US" sz="1400" dirty="0"/>
          </a:p>
        </p:txBody>
      </p:sp>
      <p:sp>
        <p:nvSpPr>
          <p:cNvPr id="7" name="Conformal step 2"/>
          <p:cNvSpPr/>
          <p:nvPr/>
        </p:nvSpPr>
        <p:spPr>
          <a:xfrm>
            <a:off x="457200" y="2084832"/>
            <a:ext cx="4297680" cy="713232"/>
          </a:xfrm>
          <a:prstGeom prst="roundRect">
            <a:avLst>
              <a:gd name="adj" fmla="val 12821"/>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8" name="Step 2"/>
          <p:cNvSpPr txBox="1"/>
          <p:nvPr/>
        </p:nvSpPr>
        <p:spPr>
          <a:xfrm>
            <a:off x="594360" y="2240280"/>
            <a:ext cx="402336" cy="402336"/>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6"/>
          <p:cNvSpPr txBox="1"/>
          <p:nvPr/>
        </p:nvSpPr>
        <p:spPr>
          <a:xfrm>
            <a:off x="1143000" y="2121408"/>
            <a:ext cx="3520440" cy="640080"/>
          </a:xfrm>
          <a:prstGeom prst="rect">
            <a:avLst/>
          </a:prstGeom>
          <a:noFill/>
          <a:ln/>
        </p:spPr>
        <p:txBody>
          <a:bodyPr wrap="square" lIns="0" tIns="0" rIns="0" bIns="0" rtlCol="0" anchor="ctr"/>
          <a:lstStyle/>
          <a:p>
            <a:pPr indent="0" marL="0">
              <a:buNone/>
            </a:pPr>
            <a:r>
              <a:rPr lang="en-US" sz="1400" dirty="0">
                <a:solidFill>
                  <a:schemeClr val="tx1"/>
                </a:solidFill>
              </a:rPr>
              <a:t>Score validation windows: how far actual values fall outside the interval</a:t>
            </a:r>
            <a:endParaRPr lang="en-US" sz="1400" dirty="0"/>
          </a:p>
        </p:txBody>
      </p:sp>
      <p:sp>
        <p:nvSpPr>
          <p:cNvPr id="10" name="Conformal step 3"/>
          <p:cNvSpPr/>
          <p:nvPr/>
        </p:nvSpPr>
        <p:spPr>
          <a:xfrm>
            <a:off x="457200" y="2889504"/>
            <a:ext cx="4297680" cy="713232"/>
          </a:xfrm>
          <a:prstGeom prst="roundRect">
            <a:avLst>
              <a:gd name="adj" fmla="val 12821"/>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11" name="Step 3"/>
          <p:cNvSpPr txBox="1"/>
          <p:nvPr/>
        </p:nvSpPr>
        <p:spPr>
          <a:xfrm>
            <a:off x="594360" y="3044952"/>
            <a:ext cx="402336" cy="402336"/>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9"/>
          <p:cNvSpPr txBox="1"/>
          <p:nvPr/>
        </p:nvSpPr>
        <p:spPr>
          <a:xfrm>
            <a:off x="1143000" y="2926080"/>
            <a:ext cx="3520440" cy="640080"/>
          </a:xfrm>
          <a:prstGeom prst="rect">
            <a:avLst/>
          </a:prstGeom>
          <a:noFill/>
          <a:ln/>
        </p:spPr>
        <p:txBody>
          <a:bodyPr wrap="square" lIns="0" tIns="0" rIns="0" bIns="0" rtlCol="0" anchor="ctr"/>
          <a:lstStyle/>
          <a:p>
            <a:pPr indent="0" marL="0">
              <a:buNone/>
            </a:pPr>
            <a:r>
              <a:rPr lang="en-US" sz="1400" dirty="0">
                <a:solidFill>
                  <a:schemeClr val="tx1"/>
                </a:solidFill>
              </a:rPr>
              <a:t>Take the 90% quantile of the scores: 2.63 kWh</a:t>
            </a:r>
            <a:endParaRPr lang="en-US" sz="1400" dirty="0"/>
          </a:p>
        </p:txBody>
      </p:sp>
      <p:sp>
        <p:nvSpPr>
          <p:cNvPr id="13" name="Conformal step 4"/>
          <p:cNvSpPr/>
          <p:nvPr/>
        </p:nvSpPr>
        <p:spPr>
          <a:xfrm>
            <a:off x="457200" y="3694176"/>
            <a:ext cx="4297680" cy="713232"/>
          </a:xfrm>
          <a:prstGeom prst="roundRect">
            <a:avLst>
              <a:gd name="adj" fmla="val 12821"/>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14" name="Step 4"/>
          <p:cNvSpPr txBox="1"/>
          <p:nvPr/>
        </p:nvSpPr>
        <p:spPr>
          <a:xfrm>
            <a:off x="594360" y="3849624"/>
            <a:ext cx="402336" cy="402336"/>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xt 12"/>
          <p:cNvSpPr txBox="1"/>
          <p:nvPr/>
        </p:nvSpPr>
        <p:spPr>
          <a:xfrm>
            <a:off x="1143000" y="3730752"/>
            <a:ext cx="3520440" cy="640080"/>
          </a:xfrm>
          <a:prstGeom prst="rect">
            <a:avLst/>
          </a:prstGeom>
          <a:noFill/>
          <a:ln/>
        </p:spPr>
        <p:txBody>
          <a:bodyPr wrap="square" lIns="0" tIns="0" rIns="0" bIns="0" rtlCol="0" anchor="ctr"/>
          <a:lstStyle/>
          <a:p>
            <a:pPr indent="0" marL="0">
              <a:buNone/>
            </a:pPr>
            <a:r>
              <a:rPr lang="en-US" sz="1400" dirty="0">
                <a:solidFill>
                  <a:schemeClr val="tx1"/>
                </a:solidFill>
              </a:rPr>
              <a:t>Widen test intervals by 2.63 kWh each side</a:t>
            </a:r>
            <a:endParaRPr lang="en-US" sz="1400" dirty="0"/>
          </a:p>
        </p:txBody>
      </p:sp>
      <p:graphicFrame>
        <p:nvGraphicFramePr>
          <p:cNvPr id="16" name="Chart 0" descr=""/>
          <p:cNvGraphicFramePr/>
          <p:nvPr/>
        </p:nvGraphicFramePr>
        <p:xfrm>
          <a:off x="4937760" y="1188720"/>
          <a:ext cx="3840480" cy="2743200"/>
        </p:xfrm>
        <a:graphic xmlns:a="http://schemas.openxmlformats.org/drawingml/2006/main">
          <a:graphicData uri="http://schemas.openxmlformats.org/drawingml/2006/chart">
            <c:chart xmlns:c="http://schemas.openxmlformats.org/drawingml/2006/chart" r:id="rId1"/>
          </a:graphicData>
        </a:graphic>
      </p:graphicFrame>
      <p:sp>
        <p:nvSpPr>
          <p:cNvPr id="17" name="Width callout"/>
          <p:cNvSpPr/>
          <p:nvPr/>
        </p:nvSpPr>
        <p:spPr>
          <a:xfrm>
            <a:off x="4937760" y="4023360"/>
            <a:ext cx="3749040" cy="594360"/>
          </a:xfrm>
          <a:prstGeom prst="roundRect">
            <a:avLst>
              <a:gd name="adj" fmla="val 15385"/>
            </a:avLst>
          </a:prstGeom>
          <a:solidFill>
            <a:schemeClr val="accent1"/>
          </a:solidFill>
          <a:ln w="6350">
            <a:solidFill>
              <a:schemeClr val="accent1"/>
            </a:solidFill>
            <a:prstDash val="solid"/>
          </a:ln>
          <a:effectLst>
            <a:outerShdw sx="100000" sy="100000" kx="0" ky="0" algn="bl" rotWithShape="0" blurRad="76200" dist="25400" dir="5400000">
              <a:srgbClr val="111827">
                <a:alpha val="12000"/>
              </a:srgbClr>
            </a:outerShdw>
          </a:effectLst>
        </p:spPr>
      </p:sp>
      <p:sp>
        <p:nvSpPr>
          <p:cNvPr id="18" name="Text 14"/>
          <p:cNvSpPr txBox="1"/>
          <p:nvPr/>
        </p:nvSpPr>
        <p:spPr>
          <a:xfrm>
            <a:off x="5074920" y="4041648"/>
            <a:ext cx="3520440" cy="548640"/>
          </a:xfrm>
          <a:prstGeom prst="rect">
            <a:avLst/>
          </a:prstGeom>
          <a:noFill/>
          <a:ln/>
        </p:spPr>
        <p:txBody>
          <a:bodyPr wrap="square" lIns="0" tIns="0" rIns="0" bIns="0" rtlCol="0" anchor="ctr"/>
          <a:lstStyle/>
          <a:p>
            <a:pPr indent="0" marL="0">
              <a:buNone/>
            </a:pPr>
            <a:r>
              <a:rPr lang="en-US" sz="1300" b="1" dirty="0">
                <a:solidFill>
                  <a:schemeClr val="bg1"/>
                </a:solidFill>
              </a:rPr>
              <a:t>Width 29.46 to 34.45 kWh (+17%). Empirical, not guaranteed.</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Peaks and some horizons remain the weak spots</a:t>
            </a:r>
            <a:endParaRPr lang="en-US" sz="2600" dirty="0"/>
          </a:p>
        </p:txBody>
      </p:sp>
      <p:graphicFrame>
        <p:nvGraphicFramePr>
          <p:cNvPr id="4" name="Chart 0" descr=""/>
          <p:cNvGraphicFramePr/>
          <p:nvPr/>
        </p:nvGraphicFramePr>
        <p:xfrm>
          <a:off x="365760" y="1188720"/>
          <a:ext cx="4023360" cy="2834640"/>
        </p:xfrm>
        <a:graphic xmlns:a="http://schemas.openxmlformats.org/drawingml/2006/main">
          <a:graphicData uri="http://schemas.openxmlformats.org/drawingml/2006/chart">
            <c:chart xmlns:c="http://schemas.openxmlformats.org/drawingml/2006/chart" r:id="rId1"/>
          </a:graphicData>
        </a:graphic>
      </p:graphicFrame>
      <p:pic>
        <p:nvPicPr>
          <p:cNvPr id="5" name="Image 0" descr="Empirical coverage at each of the 24 forecast horizons, conformalized versus uncalibrated, with the nominal 90 percent line">    </p:cNvPr>
          <p:cNvPicPr>
            <a:picLocks noChangeAspect="1"/>
          </p:cNvPicPr>
          <p:nvPr/>
        </p:nvPicPr>
        <p:blipFill>
          <a:blip r:embed="rId2"/>
          <a:stretch>
            <a:fillRect/>
          </a:stretch>
        </p:blipFill>
        <p:spPr>
          <a:xfrm>
            <a:off x="4572000" y="1234440"/>
            <a:ext cx="4114800" cy="2057400"/>
          </a:xfrm>
          <a:prstGeom prst="rect">
            <a:avLst/>
          </a:prstGeom>
        </p:spPr>
      </p:pic>
      <p:sp>
        <p:nvSpPr>
          <p:cNvPr id="6" name="Text 1"/>
          <p:cNvSpPr txBox="1"/>
          <p:nvPr/>
        </p:nvSpPr>
        <p:spPr>
          <a:xfrm>
            <a:off x="4572000" y="3383280"/>
            <a:ext cx="4114800" cy="731520"/>
          </a:xfrm>
          <a:prstGeom prst="rect">
            <a:avLst/>
          </a:prstGeom>
          <a:noFill/>
          <a:ln/>
        </p:spPr>
        <p:txBody>
          <a:bodyPr wrap="square" lIns="0" tIns="0" rIns="0" bIns="0" rtlCol="0" anchor="t"/>
          <a:lstStyle/>
          <a:p>
            <a:pPr indent="0" marL="0">
              <a:buNone/>
            </a:pPr>
            <a:r>
              <a:rPr lang="en-US" sz="1300" dirty="0">
                <a:solidFill>
                  <a:schemeClr val="tx1"/>
                </a:solidFill>
              </a:rPr>
              <a:t>100% at h = 1 to 3 and 22 to 24, but 71% to 73% at h = 5 and 6 (morning ramp).</a:t>
            </a:r>
            <a:endParaRPr lang="en-US" sz="1300" dirty="0"/>
          </a:p>
        </p:txBody>
      </p:sp>
      <p:sp>
        <p:nvSpPr>
          <p:cNvPr id="7" name="Takeaway"/>
          <p:cNvSpPr/>
          <p:nvPr/>
        </p:nvSpPr>
        <p:spPr>
          <a:xfrm>
            <a:off x="457200" y="4114800"/>
            <a:ext cx="8229600" cy="502920"/>
          </a:xfrm>
          <a:prstGeom prst="roundRect">
            <a:avLst>
              <a:gd name="adj" fmla="val 18182"/>
            </a:avLst>
          </a:prstGeom>
          <a:solidFill>
            <a:schemeClr val="accent1"/>
          </a:solidFill>
          <a:ln w="6350">
            <a:solidFill>
              <a:schemeClr val="accent1"/>
            </a:solidFill>
            <a:prstDash val="solid"/>
          </a:ln>
          <a:effectLst>
            <a:outerShdw sx="100000" sy="100000" kx="0" ky="0" algn="bl" rotWithShape="0" blurRad="76200" dist="25400" dir="5400000">
              <a:srgbClr val="111827">
                <a:alpha val="12000"/>
              </a:srgbClr>
            </a:outerShdw>
          </a:effectLst>
        </p:spPr>
      </p:sp>
      <p:sp>
        <p:nvSpPr>
          <p:cNvPr id="8" name="Text 3"/>
          <p:cNvSpPr txBox="1"/>
          <p:nvPr/>
        </p:nvSpPr>
        <p:spPr>
          <a:xfrm>
            <a:off x="640080" y="4133088"/>
            <a:ext cx="7863840" cy="457200"/>
          </a:xfrm>
          <a:prstGeom prst="rect">
            <a:avLst/>
          </a:prstGeom>
          <a:noFill/>
          <a:ln/>
        </p:spPr>
        <p:txBody>
          <a:bodyPr wrap="square" lIns="0" tIns="0" rIns="0" bIns="0" rtlCol="0" anchor="ctr"/>
          <a:lstStyle/>
          <a:p>
            <a:pPr indent="0" marL="0">
              <a:buNone/>
            </a:pPr>
            <a:r>
              <a:rPr lang="en-US" sz="1500" b="1" dirty="0">
                <a:solidFill>
                  <a:schemeClr val="bg1"/>
                </a:solidFill>
              </a:rPr>
              <a:t>One global offset fixes average coverage, not peak- or hour-specific error.</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Integrity: the leakage audit passed</a:t>
            </a:r>
            <a:endParaRPr lang="en-US" sz="2600" dirty="0"/>
          </a:p>
        </p:txBody>
      </p:sp>
      <p:sp>
        <p:nvSpPr>
          <p:cNvPr id="4" name="Verified"/>
          <p:cNvSpPr/>
          <p:nvPr/>
        </p:nvSpPr>
        <p:spPr>
          <a:xfrm>
            <a:off x="457200" y="1280160"/>
            <a:ext cx="4023360" cy="2926080"/>
          </a:xfrm>
          <a:prstGeom prst="roundRect">
            <a:avLst>
              <a:gd name="adj" fmla="val 3125"/>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5" name="Text 2"/>
          <p:cNvSpPr txBox="1"/>
          <p:nvPr/>
        </p:nvSpPr>
        <p:spPr>
          <a:xfrm>
            <a:off x="640080" y="1389888"/>
            <a:ext cx="3657600" cy="320040"/>
          </a:xfrm>
          <a:prstGeom prst="rect">
            <a:avLst/>
          </a:prstGeom>
          <a:noFill/>
          <a:ln/>
        </p:spPr>
        <p:txBody>
          <a:bodyPr wrap="square" lIns="0" tIns="0" rIns="0" bIns="0" rtlCol="0" anchor="t"/>
          <a:lstStyle/>
          <a:p>
            <a:pPr indent="0" marL="0">
              <a:buNone/>
            </a:pPr>
            <a:r>
              <a:rPr lang="en-US" sz="1600" b="1" dirty="0">
                <a:solidFill>
                  <a:schemeClr val="accent3"/>
                </a:solidFill>
              </a:rPr>
              <a:t>What we verified</a:t>
            </a:r>
            <a:endParaRPr lang="en-US" sz="1600" dirty="0"/>
          </a:p>
        </p:txBody>
      </p:sp>
      <p:sp>
        <p:nvSpPr>
          <p:cNvPr id="6" name="Text 3"/>
          <p:cNvSpPr txBox="1"/>
          <p:nvPr/>
        </p:nvSpPr>
        <p:spPr>
          <a:xfrm>
            <a:off x="640080" y="1783080"/>
            <a:ext cx="365760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Chronological split</a:t>
            </a:r>
            <a:endParaRPr lang="en-US" sz="1500" dirty="0"/>
          </a:p>
          <a:p>
            <a:pPr marL="342900" indent="-342900">
              <a:spcAft>
                <a:spcPts val="600"/>
              </a:spcAft>
              <a:buSzPct val="100000"/>
              <a:buChar char="•"/>
            </a:pPr>
            <a:r>
              <a:rPr lang="en-US" sz="1500" dirty="0">
                <a:solidFill>
                  <a:schemeClr val="tx1"/>
                </a:solidFill>
              </a:rPr>
              <a:t>Features use only past data</a:t>
            </a:r>
            <a:endParaRPr lang="en-US" sz="1500" dirty="0"/>
          </a:p>
          <a:p>
            <a:pPr marL="342900" indent="-342900">
              <a:spcAft>
                <a:spcPts val="600"/>
              </a:spcAft>
              <a:buSzPct val="100000"/>
              <a:buChar char="•"/>
            </a:pPr>
            <a:r>
              <a:rPr lang="en-US" sz="1500" dirty="0">
                <a:solidFill>
                  <a:schemeClr val="tx1"/>
                </a:solidFill>
              </a:rPr>
              <a:t>Rolling stats exclude the current hour</a:t>
            </a:r>
            <a:endParaRPr lang="en-US" sz="1500" dirty="0"/>
          </a:p>
          <a:p>
            <a:pPr marL="342900" indent="-342900">
              <a:spcAft>
                <a:spcPts val="600"/>
              </a:spcAft>
              <a:buSzPct val="100000"/>
              <a:buChar char="•"/>
            </a:pPr>
            <a:r>
              <a:rPr lang="en-US" sz="1500" dirty="0">
                <a:solidFill>
                  <a:schemeClr val="tx1"/>
                </a:solidFill>
              </a:rPr>
              <a:t>Rolling folds train on earlier data only</a:t>
            </a:r>
            <a:endParaRPr lang="en-US" sz="1500" dirty="0"/>
          </a:p>
          <a:p>
            <a:pPr marL="342900" indent="-342900">
              <a:spcAft>
                <a:spcPts val="600"/>
              </a:spcAft>
              <a:buSzPct val="100000"/>
              <a:buChar char="•"/>
            </a:pPr>
            <a:r>
              <a:rPr lang="en-US" sz="1500" dirty="0">
                <a:solidFill>
                  <a:schemeClr val="tx1"/>
                </a:solidFill>
              </a:rPr>
              <a:t>Calibration used validation data only</a:t>
            </a:r>
            <a:endParaRPr lang="en-US" sz="1500" dirty="0"/>
          </a:p>
          <a:p>
            <a:pPr marL="342900" indent="-342900">
              <a:spcAft>
                <a:spcPts val="600"/>
              </a:spcAft>
              <a:buSzPct val="100000"/>
              <a:buChar char="•"/>
            </a:pPr>
            <a:r>
              <a:rPr lang="en-US" sz="1500" dirty="0">
                <a:solidFill>
                  <a:schemeClr val="tx1"/>
                </a:solidFill>
              </a:rPr>
              <a:t>Test targets never used for fitting</a:t>
            </a:r>
            <a:endParaRPr lang="en-US" sz="1500" dirty="0"/>
          </a:p>
        </p:txBody>
      </p:sp>
      <p:sp>
        <p:nvSpPr>
          <p:cNvPr id="7" name="Caveats"/>
          <p:cNvSpPr/>
          <p:nvPr/>
        </p:nvSpPr>
        <p:spPr>
          <a:xfrm>
            <a:off x="4663440" y="1280160"/>
            <a:ext cx="4023360" cy="2926080"/>
          </a:xfrm>
          <a:prstGeom prst="roundRect">
            <a:avLst>
              <a:gd name="adj" fmla="val 3125"/>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8" name="Text 5"/>
          <p:cNvSpPr txBox="1"/>
          <p:nvPr/>
        </p:nvSpPr>
        <p:spPr>
          <a:xfrm>
            <a:off x="4846320" y="1389888"/>
            <a:ext cx="3657600" cy="320040"/>
          </a:xfrm>
          <a:prstGeom prst="rect">
            <a:avLst/>
          </a:prstGeom>
          <a:noFill/>
          <a:ln/>
        </p:spPr>
        <p:txBody>
          <a:bodyPr wrap="square" lIns="0" tIns="0" rIns="0" bIns="0" rtlCol="0" anchor="t"/>
          <a:lstStyle/>
          <a:p>
            <a:pPr indent="0" marL="0">
              <a:buNone/>
            </a:pPr>
            <a:r>
              <a:rPr lang="en-US" sz="1600" b="1" dirty="0">
                <a:solidFill>
                  <a:schemeClr val="accent2"/>
                </a:solidFill>
              </a:rPr>
              <a:t>Caveats we report</a:t>
            </a:r>
            <a:endParaRPr lang="en-US" sz="1600" dirty="0"/>
          </a:p>
        </p:txBody>
      </p:sp>
      <p:sp>
        <p:nvSpPr>
          <p:cNvPr id="9" name="Text 6"/>
          <p:cNvSpPr txBox="1"/>
          <p:nvPr/>
        </p:nvSpPr>
        <p:spPr>
          <a:xfrm>
            <a:off x="4846320" y="1783080"/>
            <a:ext cx="365760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Baseline re-run: MAE 6.46 vs 6.49 (library versions)</a:t>
            </a:r>
            <a:endParaRPr lang="en-US" sz="1500" dirty="0"/>
          </a:p>
          <a:p>
            <a:pPr marL="342900" indent="-342900">
              <a:spcAft>
                <a:spcPts val="600"/>
              </a:spcAft>
              <a:buSzPct val="100000"/>
              <a:buChar char="•"/>
            </a:pPr>
            <a:r>
              <a:rPr lang="en-US" sz="1500" dirty="0">
                <a:solidFill>
                  <a:schemeClr val="tx1"/>
                </a:solidFill>
              </a:rPr>
              <a:t>Two legacy result files superseded, not used</a:t>
            </a:r>
            <a:endParaRPr lang="en-US" sz="1500" dirty="0"/>
          </a:p>
          <a:p>
            <a:pPr marL="342900" indent="-342900">
              <a:spcAft>
                <a:spcPts val="600"/>
              </a:spcAft>
              <a:buSzPct val="100000"/>
              <a:buChar char="•"/>
            </a:pPr>
            <a:r>
              <a:rPr lang="en-US" sz="1500" dirty="0">
                <a:solidFill>
                  <a:schemeClr val="tx1"/>
                </a:solidFill>
              </a:rPr>
              <a:t>Calibration and test windows start at different clock times</a:t>
            </a:r>
            <a:endParaRPr lang="en-US" sz="1500" dirty="0"/>
          </a:p>
          <a:p>
            <a:pPr marL="342900" indent="-342900">
              <a:spcAft>
                <a:spcPts val="600"/>
              </a:spcAft>
              <a:buSzPct val="100000"/>
              <a:buChar char="•"/>
            </a:pPr>
            <a:r>
              <a:rPr lang="en-US" sz="1500" dirty="0">
                <a:solidFill>
                  <a:schemeClr val="tx1"/>
                </a:solidFill>
              </a:rPr>
              <a:t>XGBoost variants differ in loss and training rows: not comparable on MAE/RMSE</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Limitations and future work</a:t>
            </a:r>
            <a:endParaRPr lang="en-US" sz="2600" dirty="0"/>
          </a:p>
        </p:txBody>
      </p:sp>
      <p:sp>
        <p:nvSpPr>
          <p:cNvPr id="4" name="Limitations"/>
          <p:cNvSpPr/>
          <p:nvPr/>
        </p:nvSpPr>
        <p:spPr>
          <a:xfrm>
            <a:off x="457200" y="1280160"/>
            <a:ext cx="4023360" cy="2926080"/>
          </a:xfrm>
          <a:prstGeom prst="roundRect">
            <a:avLst>
              <a:gd name="adj" fmla="val 3125"/>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5" name="Text 2"/>
          <p:cNvSpPr txBox="1"/>
          <p:nvPr/>
        </p:nvSpPr>
        <p:spPr>
          <a:xfrm>
            <a:off x="640080" y="1389888"/>
            <a:ext cx="3657600" cy="320040"/>
          </a:xfrm>
          <a:prstGeom prst="rect">
            <a:avLst/>
          </a:prstGeom>
          <a:noFill/>
          <a:ln/>
        </p:spPr>
        <p:txBody>
          <a:bodyPr wrap="square" lIns="0" tIns="0" rIns="0" bIns="0" rtlCol="0" anchor="t"/>
          <a:lstStyle/>
          <a:p>
            <a:pPr indent="0" marL="0">
              <a:buNone/>
            </a:pPr>
            <a:r>
              <a:rPr lang="en-US" sz="1600" b="1" dirty="0">
                <a:solidFill>
                  <a:schemeClr val="accent2"/>
                </a:solidFill>
              </a:rPr>
              <a:t>Limitations</a:t>
            </a:r>
            <a:endParaRPr lang="en-US" sz="1600" dirty="0"/>
          </a:p>
        </p:txBody>
      </p:sp>
      <p:sp>
        <p:nvSpPr>
          <p:cNvPr id="6" name="Text 3"/>
          <p:cNvSpPr txBox="1"/>
          <p:nvPr/>
        </p:nvSpPr>
        <p:spPr>
          <a:xfrm>
            <a:off x="640080" y="1783080"/>
            <a:ext cx="365760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One site, about ten months of data</a:t>
            </a:r>
            <a:endParaRPr lang="en-US" sz="1500" dirty="0"/>
          </a:p>
          <a:p>
            <a:pPr marL="342900" indent="-342900">
              <a:spcAft>
                <a:spcPts val="600"/>
              </a:spcAft>
              <a:buSzPct val="100000"/>
              <a:buChar char="•"/>
            </a:pPr>
            <a:r>
              <a:rPr lang="en-US" sz="1500" dirty="0">
                <a:solidFill>
                  <a:schemeClr val="tx1"/>
                </a:solidFill>
              </a:rPr>
              <a:t>45 test days; neighbouring days are not independent</a:t>
            </a:r>
            <a:endParaRPr lang="en-US" sz="1500" dirty="0"/>
          </a:p>
          <a:p>
            <a:pPr marL="342900" indent="-342900">
              <a:spcAft>
                <a:spcPts val="600"/>
              </a:spcAft>
              <a:buSzPct val="100000"/>
              <a:buChar char="•"/>
            </a:pPr>
            <a:r>
              <a:rPr lang="en-US" sz="1500" dirty="0">
                <a:solidFill>
                  <a:schemeClr val="tx1"/>
                </a:solidFill>
              </a:rPr>
              <a:t>Peak hours still under-covered (72.2%)</a:t>
            </a:r>
            <a:endParaRPr lang="en-US" sz="1500" dirty="0"/>
          </a:p>
          <a:p>
            <a:pPr marL="342900" indent="-342900">
              <a:spcAft>
                <a:spcPts val="600"/>
              </a:spcAft>
              <a:buSzPct val="100000"/>
              <a:buChar char="•"/>
            </a:pPr>
            <a:r>
              <a:rPr lang="en-US" sz="1500" dirty="0">
                <a:solidFill>
                  <a:schemeClr val="tx1"/>
                </a:solidFill>
              </a:rPr>
              <a:t>Conformal assumptions may not strictly hold</a:t>
            </a:r>
            <a:endParaRPr lang="en-US" sz="1500" dirty="0"/>
          </a:p>
          <a:p>
            <a:pPr marL="342900" indent="-342900">
              <a:spcAft>
                <a:spcPts val="600"/>
              </a:spcAft>
              <a:buSzPct val="100000"/>
              <a:buChar char="•"/>
            </a:pPr>
            <a:r>
              <a:rPr lang="en-US" sz="1500" dirty="0">
                <a:solidFill>
                  <a:schemeClr val="tx1"/>
                </a:solidFill>
              </a:rPr>
              <a:t>No weather or traffic data</a:t>
            </a:r>
            <a:endParaRPr lang="en-US" sz="1500" dirty="0"/>
          </a:p>
        </p:txBody>
      </p:sp>
      <p:sp>
        <p:nvSpPr>
          <p:cNvPr id="7" name="Future work"/>
          <p:cNvSpPr/>
          <p:nvPr/>
        </p:nvSpPr>
        <p:spPr>
          <a:xfrm>
            <a:off x="4663440" y="1280160"/>
            <a:ext cx="4023360" cy="2926080"/>
          </a:xfrm>
          <a:prstGeom prst="roundRect">
            <a:avLst>
              <a:gd name="adj" fmla="val 3125"/>
            </a:avLst>
          </a:prstGeom>
          <a:solidFill>
            <a:schemeClr val="bg2"/>
          </a:solidFill>
          <a:ln w="6350">
            <a:solidFill>
              <a:schemeClr val="bg2"/>
            </a:solidFill>
            <a:prstDash val="solid"/>
          </a:ln>
          <a:effectLst>
            <a:outerShdw sx="100000" sy="100000" kx="0" ky="0" algn="bl" rotWithShape="0" blurRad="76200" dist="25400" dir="5400000">
              <a:srgbClr val="111827">
                <a:alpha val="12000"/>
              </a:srgbClr>
            </a:outerShdw>
          </a:effectLst>
        </p:spPr>
      </p:sp>
      <p:sp>
        <p:nvSpPr>
          <p:cNvPr id="8" name="Text 5"/>
          <p:cNvSpPr txBox="1"/>
          <p:nvPr/>
        </p:nvSpPr>
        <p:spPr>
          <a:xfrm>
            <a:off x="4846320" y="1389888"/>
            <a:ext cx="3657600" cy="320040"/>
          </a:xfrm>
          <a:prstGeom prst="rect">
            <a:avLst/>
          </a:prstGeom>
          <a:noFill/>
          <a:ln/>
        </p:spPr>
        <p:txBody>
          <a:bodyPr wrap="square" lIns="0" tIns="0" rIns="0" bIns="0" rtlCol="0" anchor="t"/>
          <a:lstStyle/>
          <a:p>
            <a:pPr indent="0" marL="0">
              <a:buNone/>
            </a:pPr>
            <a:r>
              <a:rPr lang="en-US" sz="1600" b="1" dirty="0">
                <a:solidFill>
                  <a:schemeClr val="accent1"/>
                </a:solidFill>
              </a:rPr>
              <a:t>Future work</a:t>
            </a:r>
            <a:endParaRPr lang="en-US" sz="1600" dirty="0"/>
          </a:p>
        </p:txBody>
      </p:sp>
      <p:sp>
        <p:nvSpPr>
          <p:cNvPr id="9" name="Text 6"/>
          <p:cNvSpPr txBox="1"/>
          <p:nvPr/>
        </p:nvSpPr>
        <p:spPr>
          <a:xfrm>
            <a:off x="4846320" y="1783080"/>
            <a:ext cx="365760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Weather and traffic or event data</a:t>
            </a:r>
            <a:endParaRPr lang="en-US" sz="1500" dirty="0"/>
          </a:p>
          <a:p>
            <a:pPr marL="342900" indent="-342900">
              <a:spcAft>
                <a:spcPts val="600"/>
              </a:spcAft>
              <a:buSzPct val="100000"/>
              <a:buChar char="•"/>
            </a:pPr>
            <a:r>
              <a:rPr lang="en-US" sz="1500" dirty="0">
                <a:solidFill>
                  <a:schemeClr val="tx1"/>
                </a:solidFill>
              </a:rPr>
              <a:t>More charging sites, longer history</a:t>
            </a:r>
            <a:endParaRPr lang="en-US" sz="1500" dirty="0"/>
          </a:p>
          <a:p>
            <a:pPr marL="342900" indent="-342900">
              <a:spcAft>
                <a:spcPts val="600"/>
              </a:spcAft>
              <a:buSzPct val="100000"/>
              <a:buChar char="•"/>
            </a:pPr>
            <a:r>
              <a:rPr lang="en-US" sz="1500" dirty="0">
                <a:solidFill>
                  <a:schemeClr val="tx1"/>
                </a:solidFill>
              </a:rPr>
              <a:t>Horizon-specific calibration</a:t>
            </a:r>
            <a:endParaRPr lang="en-US" sz="1500" dirty="0"/>
          </a:p>
          <a:p>
            <a:pPr marL="342900" indent="-342900">
              <a:spcAft>
                <a:spcPts val="600"/>
              </a:spcAft>
              <a:buSzPct val="100000"/>
              <a:buChar char="•"/>
            </a:pPr>
            <a:r>
              <a:rPr lang="en-US" sz="1500" dirty="0">
                <a:solidFill>
                  <a:schemeClr val="tx1"/>
                </a:solidFill>
              </a:rPr>
              <a:t>Time-series-aware conformal methods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bg1"/>
                </a:solidFill>
              </a:rPr>
              <a:t>What the project demonstrates</a:t>
            </a:r>
            <a:endParaRPr lang="en-US" sz="2600" dirty="0"/>
          </a:p>
        </p:txBody>
      </p:sp>
      <p:sp>
        <p:nvSpPr>
          <p:cNvPr id="4" name="Conclusion card 1"/>
          <p:cNvSpPr/>
          <p:nvPr/>
        </p:nvSpPr>
        <p:spPr>
          <a:xfrm>
            <a:off x="457200" y="1280160"/>
            <a:ext cx="2560320" cy="2651760"/>
          </a:xfrm>
          <a:prstGeom prst="roundRect">
            <a:avLst>
              <a:gd name="adj" fmla="val 3571"/>
            </a:avLst>
          </a:prstGeom>
          <a:solidFill>
            <a:schemeClr val="accent1"/>
          </a:solidFill>
          <a:ln w="6350">
            <a:solidFill>
              <a:schemeClr val="accent1"/>
            </a:solidFill>
            <a:prstDash val="solid"/>
          </a:ln>
        </p:spPr>
      </p:sp>
      <p:sp>
        <p:nvSpPr>
          <p:cNvPr id="5" name="Step 1"/>
          <p:cNvSpPr txBox="1"/>
          <p:nvPr/>
        </p:nvSpPr>
        <p:spPr>
          <a:xfrm>
            <a:off x="640080" y="146304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640080" y="2011680"/>
            <a:ext cx="2194560" cy="457200"/>
          </a:xfrm>
          <a:prstGeom prst="rect">
            <a:avLst/>
          </a:prstGeom>
          <a:noFill/>
          <a:ln/>
        </p:spPr>
        <p:txBody>
          <a:bodyPr wrap="square" lIns="0" tIns="0" rIns="0" bIns="0" rtlCol="0" anchor="t"/>
          <a:lstStyle/>
          <a:p>
            <a:pPr indent="0" marL="0">
              <a:buNone/>
            </a:pPr>
            <a:r>
              <a:rPr lang="en-US" sz="1700" b="1" dirty="0">
                <a:solidFill>
                  <a:schemeClr val="bg1"/>
                </a:solidFill>
              </a:rPr>
              <a:t>Forecastable</a:t>
            </a:r>
            <a:endParaRPr lang="en-US" sz="1700" dirty="0"/>
          </a:p>
        </p:txBody>
      </p:sp>
      <p:sp>
        <p:nvSpPr>
          <p:cNvPr id="7" name="Text 4"/>
          <p:cNvSpPr txBox="1"/>
          <p:nvPr/>
        </p:nvSpPr>
        <p:spPr>
          <a:xfrm>
            <a:off x="640080" y="2514600"/>
            <a:ext cx="2194560" cy="1371600"/>
          </a:xfrm>
          <a:prstGeom prst="rect">
            <a:avLst/>
          </a:prstGeom>
          <a:noFill/>
          <a:ln/>
        </p:spPr>
        <p:txBody>
          <a:bodyPr wrap="square" lIns="0" tIns="0" rIns="0" bIns="0" rtlCol="0" anchor="t"/>
          <a:lstStyle/>
          <a:p>
            <a:pPr indent="0" marL="0">
              <a:buNone/>
            </a:pPr>
            <a:r>
              <a:rPr lang="en-US" sz="1400" dirty="0">
                <a:solidFill>
                  <a:schemeClr val="bg1"/>
                </a:solidFill>
              </a:rPr>
              <a:t>XGBoost: MAE 6.49 kWh, RMSE 9.06, R² 0.682, on par with Random Forest (p = 0.81).</a:t>
            </a:r>
            <a:endParaRPr lang="en-US" sz="1400" dirty="0"/>
          </a:p>
        </p:txBody>
      </p:sp>
      <p:sp>
        <p:nvSpPr>
          <p:cNvPr id="8" name="Conclusion card 2"/>
          <p:cNvSpPr/>
          <p:nvPr/>
        </p:nvSpPr>
        <p:spPr>
          <a:xfrm>
            <a:off x="3291840" y="1280160"/>
            <a:ext cx="2560320" cy="2651760"/>
          </a:xfrm>
          <a:prstGeom prst="roundRect">
            <a:avLst>
              <a:gd name="adj" fmla="val 3571"/>
            </a:avLst>
          </a:prstGeom>
          <a:solidFill>
            <a:schemeClr val="accent1"/>
          </a:solidFill>
          <a:ln w="6350">
            <a:solidFill>
              <a:schemeClr val="accent1"/>
            </a:solidFill>
            <a:prstDash val="solid"/>
          </a:ln>
        </p:spPr>
      </p:sp>
      <p:sp>
        <p:nvSpPr>
          <p:cNvPr id="9" name="Step 2"/>
          <p:cNvSpPr txBox="1"/>
          <p:nvPr/>
        </p:nvSpPr>
        <p:spPr>
          <a:xfrm>
            <a:off x="3474720" y="146304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3474720" y="2011680"/>
            <a:ext cx="2194560" cy="457200"/>
          </a:xfrm>
          <a:prstGeom prst="rect">
            <a:avLst/>
          </a:prstGeom>
          <a:noFill/>
          <a:ln/>
        </p:spPr>
        <p:txBody>
          <a:bodyPr wrap="square" lIns="0" tIns="0" rIns="0" bIns="0" rtlCol="0" anchor="t"/>
          <a:lstStyle/>
          <a:p>
            <a:pPr indent="0" marL="0">
              <a:buNone/>
            </a:pPr>
            <a:r>
              <a:rPr lang="en-US" sz="1700" b="1" dirty="0">
                <a:solidFill>
                  <a:schemeClr val="bg1"/>
                </a:solidFill>
              </a:rPr>
              <a:t>Stable on average</a:t>
            </a:r>
            <a:endParaRPr lang="en-US" sz="1700" dirty="0"/>
          </a:p>
        </p:txBody>
      </p:sp>
      <p:sp>
        <p:nvSpPr>
          <p:cNvPr id="11" name="Text 8"/>
          <p:cNvSpPr txBox="1"/>
          <p:nvPr/>
        </p:nvSpPr>
        <p:spPr>
          <a:xfrm>
            <a:off x="3474720" y="2514600"/>
            <a:ext cx="2194560" cy="1371600"/>
          </a:xfrm>
          <a:prstGeom prst="rect">
            <a:avLst/>
          </a:prstGeom>
          <a:noFill/>
          <a:ln/>
        </p:spPr>
        <p:txBody>
          <a:bodyPr wrap="square" lIns="0" tIns="0" rIns="0" bIns="0" rtlCol="0" anchor="t"/>
          <a:lstStyle/>
          <a:p>
            <a:pPr indent="0" marL="0">
              <a:buNone/>
            </a:pPr>
            <a:r>
              <a:rPr lang="en-US" sz="1400" dirty="0">
                <a:solidFill>
                  <a:schemeClr val="bg1"/>
                </a:solidFill>
              </a:rPr>
              <a:t>Median daily MAE 5.70 kWh over 91 windows; some days are much harder.</a:t>
            </a:r>
            <a:endParaRPr lang="en-US" sz="1400" dirty="0"/>
          </a:p>
        </p:txBody>
      </p:sp>
      <p:sp>
        <p:nvSpPr>
          <p:cNvPr id="12" name="Conclusion card 3"/>
          <p:cNvSpPr/>
          <p:nvPr/>
        </p:nvSpPr>
        <p:spPr>
          <a:xfrm>
            <a:off x="6126480" y="1280160"/>
            <a:ext cx="2560320" cy="2651760"/>
          </a:xfrm>
          <a:prstGeom prst="roundRect">
            <a:avLst>
              <a:gd name="adj" fmla="val 3571"/>
            </a:avLst>
          </a:prstGeom>
          <a:solidFill>
            <a:schemeClr val="accent1"/>
          </a:solidFill>
          <a:ln w="6350">
            <a:solidFill>
              <a:schemeClr val="accent1"/>
            </a:solidFill>
            <a:prstDash val="solid"/>
          </a:ln>
        </p:spPr>
      </p:sp>
      <p:sp>
        <p:nvSpPr>
          <p:cNvPr id="13" name="Step 3"/>
          <p:cNvSpPr txBox="1"/>
          <p:nvPr/>
        </p:nvSpPr>
        <p:spPr>
          <a:xfrm>
            <a:off x="6309360" y="146304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1"/>
          <p:cNvSpPr txBox="1"/>
          <p:nvPr/>
        </p:nvSpPr>
        <p:spPr>
          <a:xfrm>
            <a:off x="6309360" y="2011680"/>
            <a:ext cx="2194560" cy="457200"/>
          </a:xfrm>
          <a:prstGeom prst="rect">
            <a:avLst/>
          </a:prstGeom>
          <a:noFill/>
          <a:ln/>
        </p:spPr>
        <p:txBody>
          <a:bodyPr wrap="square" lIns="0" tIns="0" rIns="0" bIns="0" rtlCol="0" anchor="t"/>
          <a:lstStyle/>
          <a:p>
            <a:pPr indent="0" marL="0">
              <a:buNone/>
            </a:pPr>
            <a:r>
              <a:rPr lang="en-US" sz="1700" b="1" dirty="0">
                <a:solidFill>
                  <a:schemeClr val="bg1"/>
                </a:solidFill>
              </a:rPr>
              <a:t>Check uncertainty</a:t>
            </a:r>
            <a:endParaRPr lang="en-US" sz="1700" dirty="0"/>
          </a:p>
        </p:txBody>
      </p:sp>
      <p:sp>
        <p:nvSpPr>
          <p:cNvPr id="15" name="Text 12"/>
          <p:cNvSpPr txBox="1"/>
          <p:nvPr/>
        </p:nvSpPr>
        <p:spPr>
          <a:xfrm>
            <a:off x="6309360" y="2514600"/>
            <a:ext cx="2194560" cy="1371600"/>
          </a:xfrm>
          <a:prstGeom prst="rect">
            <a:avLst/>
          </a:prstGeom>
          <a:noFill/>
          <a:ln/>
        </p:spPr>
        <p:txBody>
          <a:bodyPr wrap="square" lIns="0" tIns="0" rIns="0" bIns="0" rtlCol="0" anchor="t"/>
          <a:lstStyle/>
          <a:p>
            <a:pPr indent="0" marL="0">
              <a:buNone/>
            </a:pPr>
            <a:r>
              <a:rPr lang="en-US" sz="1400" dirty="0">
                <a:solidFill>
                  <a:schemeClr val="bg1"/>
                </a:solidFill>
              </a:rPr>
              <a:t>Raw 90% intervals covered 71.2%; calibration gave 90.9% empirical coverage. Peaks stay hard (72.2%).</a:t>
            </a:r>
            <a:endParaRPr lang="en-US" sz="1400" dirty="0"/>
          </a:p>
        </p:txBody>
      </p:sp>
      <p:sp>
        <p:nvSpPr>
          <p:cNvPr id="16" name="Text 13"/>
          <p:cNvSpPr txBox="1"/>
          <p:nvPr/>
        </p:nvSpPr>
        <p:spPr>
          <a:xfrm>
            <a:off x="457200" y="4114800"/>
            <a:ext cx="4572000" cy="4572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Thank you. Questions?</a:t>
            </a:r>
            <a:endParaRPr lang="en-US" sz="2200" dirty="0"/>
          </a:p>
        </p:txBody>
      </p:sp>
      <p:sp>
        <p:nvSpPr>
          <p:cNvPr id="17" name="Text 14"/>
          <p:cNvSpPr txBox="1"/>
          <p:nvPr/>
        </p:nvSpPr>
        <p:spPr>
          <a:xfrm>
            <a:off x="4572000" y="4187952"/>
            <a:ext cx="4114800" cy="365760"/>
          </a:xfrm>
          <a:prstGeom prst="rect">
            <a:avLst/>
          </a:prstGeom>
          <a:noFill/>
          <a:ln/>
        </p:spPr>
        <p:txBody>
          <a:bodyPr wrap="square" lIns="0" tIns="0" rIns="0" bIns="0" rtlCol="0" anchor="t"/>
          <a:lstStyle/>
          <a:p>
            <a:pPr algn="r" indent="0" marL="0">
              <a:buNone/>
            </a:pPr>
            <a:r>
              <a:rPr lang="en-US" sz="1300" dirty="0">
                <a:solidFill>
                  <a:schemeClr val="bg2"/>
                </a:solidFill>
              </a:rPr>
              <a:t>One site, about ten months of data.</a:t>
            </a:r>
            <a:endParaRPr lang="en-US" sz="1300" dirty="0"/>
          </a:p>
        </p:txBody>
      </p:sp>
    </p:spTree>
  </p:cSld>
  <p:clrMapOvr>
    <a:masterClrMapping/>
  </p:clrMapOvr>
</p:sld>
</file>

<file path=ppt/theme/theme1.xml><?xml version="1.0" encoding="utf-8"?>
<a:theme xmlns:a="http://schemas.openxmlformats.org/drawingml/2006/main" name="ChargeCast">
  <a:themeElements>
    <a:clrScheme name="ChargeCast">
      <a:dk1>
        <a:srgbClr val="111827"/>
      </a:dk1>
      <a:lt1>
        <a:srgbClr val="FFFFFF"/>
      </a:lt1>
      <a:dk2>
        <a:srgbClr val="2E2A78"/>
      </a:dk2>
      <a:lt2>
        <a:srgbClr val="EEF0FF"/>
      </a:lt2>
      <a:accent1>
        <a:srgbClr val="4F46E5"/>
      </a:accent1>
      <a:accent2>
        <a:srgbClr val="EA580C"/>
      </a:accent2>
      <a:accent3>
        <a:srgbClr val="16A34A"/>
      </a:accent3>
      <a:accent4>
        <a:srgbClr val="7C6CF2"/>
      </a:accent4>
      <a:accent5>
        <a:srgbClr val="E11D48"/>
      </a:accent5>
      <a:accent6>
        <a:srgbClr val="6B7280"/>
      </a:accent6>
      <a:hlink>
        <a:srgbClr val="4F46E5"/>
      </a:hlink>
      <a:folHlink>
        <a:srgbClr val="7C6CF2"/>
      </a:folHlink>
    </a:clrScheme>
    <a:fontScheme name="ChargeCa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Vishwakarma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 Charging Demand Prediction Using Machine Learning and Time-Series Analysis</dc:title>
  <dc:subject>PptxGenJS Presentation</dc:subject>
  <dc:creator>Abhishek Dombale, Harshwardhan Gangarde</dc:creator>
  <cp:lastModifiedBy>Abhishek Dombale, Harshwardhan Gangarde</cp:lastModifiedBy>
  <cp:revision>1</cp:revision>
  <dcterms:created xsi:type="dcterms:W3CDTF">2026-10-27T21:20:23Z</dcterms:created>
  <dcterms:modified xsi:type="dcterms:W3CDTF">2026-10-27T21:20:23Z</dcterms:modified>
</cp:coreProperties>
</file>